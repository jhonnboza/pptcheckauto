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webp" ContentType="image/webp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2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3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4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5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6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7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8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9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10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Respuestas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F97316"/>
              </a:solidFill>
              <a:effectLst/>
            </c:spPr>
          </c:dPt>
          <c:dPt>
            <c:idx val="1"/>
            <c:bubble3D val="0"/>
            <c:spPr>
              <a:solidFill>
                <a:srgbClr val="1E4D8C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1E293B"/>
                      </a:solidFill>
                      <a:latin typeface="Arial"/>
                    </a:defRPr>
                  </a:pPr>
                </a:p>
              </c:txPr>
              <c:dLblPos val="bestFit"/>
              <c:showLegendKey val="0"/>
              <c:showVal val="1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1E293B"/>
                      </a:solidFill>
                      <a:latin typeface="Arial"/>
                    </a:defRPr>
                  </a:pPr>
                </a:p>
              </c:txPr>
              <c:dLblPos val="bestFit"/>
              <c:showLegendKey val="0"/>
              <c:showVal val="1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Sí</c:v>
                </c:pt>
                <c:pt idx="1">
                  <c:v>No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68</c:v>
                </c:pt>
                <c:pt idx="1">
                  <c:v>32</c:v>
                </c:pt>
              </c:numCache>
            </c:numRef>
          </c:val>
        </c:ser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>
              <a:solidFill>
                <a:srgbClr val="1E293B"/>
              </a:solidFill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Respuestas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F97316"/>
              </a:solidFill>
              <a:effectLst/>
            </c:spPr>
          </c:dPt>
          <c:dPt>
            <c:idx val="1"/>
            <c:bubble3D val="0"/>
            <c:spPr>
              <a:solidFill>
                <a:srgbClr val="1B3A6B"/>
              </a:solidFill>
              <a:effectLst/>
            </c:spPr>
          </c:dPt>
          <c:dPt>
            <c:idx val="2"/>
            <c:bubble3D val="0"/>
            <c:spPr>
              <a:solidFill>
                <a:srgbClr val="7CB9E8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1E293B"/>
                      </a:solidFill>
                      <a:latin typeface="Arial"/>
                    </a:defRPr>
                  </a:pPr>
                </a:p>
              </c:txPr>
              <c:dLblPos val="bestFit"/>
              <c:showLegendKey val="0"/>
              <c:showVal val="1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1E293B"/>
                      </a:solidFill>
                      <a:latin typeface="Arial"/>
                    </a:defRPr>
                  </a:pPr>
                </a:p>
              </c:txPr>
              <c:dLblPos val="bestFit"/>
              <c:showLegendKey val="0"/>
              <c:showVal val="1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1E293B"/>
                      </a:solidFill>
                      <a:latin typeface="Arial"/>
                    </a:defRPr>
                  </a:pPr>
                </a:p>
              </c:txPr>
              <c:dLblPos val="bestFit"/>
              <c:showLegendKey val="0"/>
              <c:showVal val="1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Sí</c:v>
                </c:pt>
                <c:pt idx="1">
                  <c:v>No</c:v>
                </c:pt>
                <c:pt idx="2">
                  <c:v>Tal vez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34</c:v>
                </c:pt>
                <c:pt idx="1">
                  <c:v>51</c:v>
                </c:pt>
                <c:pt idx="2">
                  <c:v>15</c:v>
                </c:pt>
              </c:numCache>
            </c:numRef>
          </c:val>
        </c:ser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>
              <a:solidFill>
                <a:srgbClr val="1E293B"/>
              </a:solidFill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Respuestas</c:v>
                </c:pt>
              </c:strCache>
            </c:strRef>
          </c:tx>
          <c:spPr>
            <a:solidFill>
              <a:srgbClr val="1B3A6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E293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B3A6B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E4D8C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7CB9E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A8C5E5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Muy importante</c:v>
                  </c:pt>
                  <c:pt idx="1">
                    <c:v>Importante</c:v>
                  </c:pt>
                  <c:pt idx="2">
                    <c:v>Poco importante</c:v>
                  </c:pt>
                  <c:pt idx="3">
                    <c:v>Nada importante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62</c:v>
                </c:pt>
                <c:pt idx="1">
                  <c:v>28</c:v>
                </c:pt>
                <c:pt idx="2">
                  <c:v>7</c:v>
                </c:pt>
                <c:pt idx="3">
                  <c:v>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E293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>
              <a:solidFill>
                <a:srgbClr val="1E293B"/>
              </a:solidFill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Respuestas</c:v>
                </c:pt>
              </c:strCache>
            </c:strRef>
          </c:tx>
          <c:spPr>
            <a:solidFill>
              <a:srgbClr val="1B3A6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E293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B3A6B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E4D8C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F97316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6A07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Menos de $20</c:v>
                  </c:pt>
                  <c:pt idx="1">
                    <c:v>$20 - $40</c:v>
                  </c:pt>
                  <c:pt idx="2">
                    <c:v>$40 - $70</c:v>
                  </c:pt>
                  <c:pt idx="3">
                    <c:v>Más de $70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12</c:v>
                </c:pt>
                <c:pt idx="1">
                  <c:v>38</c:v>
                </c:pt>
                <c:pt idx="2">
                  <c:v>36</c:v>
                </c:pt>
                <c:pt idx="3">
                  <c:v>14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E293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>
              <a:solidFill>
                <a:srgbClr val="1E293B"/>
              </a:solidFill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Respuestas</c:v>
                </c:pt>
              </c:strCache>
            </c:strRef>
          </c:tx>
          <c:spPr>
            <a:solidFill>
              <a:srgbClr val="F9731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E293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F9731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B3A6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E4D8C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7CB9E8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Defectos ocultos</c:v>
                  </c:pt>
                  <c:pt idx="1">
                    <c:v>Historial falso</c:v>
                  </c:pt>
                  <c:pt idx="2">
                    <c:v>Precio inflado</c:v>
                  </c:pt>
                  <c:pt idx="3">
                    <c:v>Ningún problema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48</c:v>
                </c:pt>
                <c:pt idx="1">
                  <c:v>29</c:v>
                </c:pt>
                <c:pt idx="2">
                  <c:v>17</c:v>
                </c:pt>
                <c:pt idx="3">
                  <c:v>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E293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>
              <a:solidFill>
                <a:srgbClr val="1E293B"/>
              </a:solidFill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Respuestas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F97316"/>
              </a:solidFill>
              <a:effectLst/>
            </c:spPr>
          </c:dPt>
          <c:dPt>
            <c:idx val="1"/>
            <c:bubble3D val="0"/>
            <c:spPr>
              <a:solidFill>
                <a:srgbClr val="1B3A6B"/>
              </a:solidFill>
              <a:effectLst/>
            </c:spPr>
          </c:dPt>
          <c:dPt>
            <c:idx val="2"/>
            <c:bubble3D val="0"/>
            <c:spPr>
              <a:solidFill>
                <a:srgbClr val="1E4D8C"/>
              </a:solidFill>
              <a:effectLst/>
            </c:spPr>
          </c:dPt>
          <c:dPt>
            <c:idx val="3"/>
            <c:bubble3D val="0"/>
            <c:spPr>
              <a:solidFill>
                <a:srgbClr val="7CB9E8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1E293B"/>
                      </a:solidFill>
                      <a:latin typeface="Arial"/>
                    </a:defRPr>
                  </a:pPr>
                </a:p>
              </c:txPr>
              <c:dLblPos val="bestFit"/>
              <c:showLegendKey val="0"/>
              <c:showVal val="1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1E293B"/>
                      </a:solidFill>
                      <a:latin typeface="Arial"/>
                    </a:defRPr>
                  </a:pPr>
                </a:p>
              </c:txPr>
              <c:dLblPos val="bestFit"/>
              <c:showLegendKey val="0"/>
              <c:showVal val="1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1E293B"/>
                      </a:solidFill>
                      <a:latin typeface="Arial"/>
                    </a:defRPr>
                  </a:pPr>
                </a:p>
              </c:txPr>
              <c:dLblPos val="bestFit"/>
              <c:showLegendKey val="0"/>
              <c:showVal val="1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1E293B"/>
                      </a:solidFill>
                      <a:latin typeface="Arial"/>
                    </a:defRPr>
                  </a:pPr>
                </a:p>
              </c:txPr>
              <c:dLblPos val="bestFit"/>
              <c:showLegendKey val="0"/>
              <c:showVal val="1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Sheet1!$A$2:$A$5</c:f>
              <c:strCache>
                <c:ptCount val="4"/>
                <c:pt idx="0">
                  <c:v>App móvil</c:v>
                </c:pt>
                <c:pt idx="1">
                  <c:v>WhatsApp</c:v>
                </c:pt>
                <c:pt idx="2">
                  <c:v>Sitio web</c:v>
                </c:pt>
                <c:pt idx="3">
                  <c:v>Llamada telefónica</c:v>
                </c:pt>
              </c:strCache>
            </c:strRef>
          </c:cat>
          <c:val>
            <c:numRef>
              <c:f>Sheet1!$B$2:$B$5</c:f>
              <c:numCache>
                <c:ptCount val="4"/>
                <c:pt idx="0">
                  <c:v>41</c:v>
                </c:pt>
                <c:pt idx="1">
                  <c:v>33</c:v>
                </c:pt>
                <c:pt idx="2">
                  <c:v>20</c:v>
                </c:pt>
                <c:pt idx="3">
                  <c:v>6</c:v>
                </c:pt>
              </c:numCache>
            </c:numRef>
          </c:val>
        </c:ser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>
              <a:solidFill>
                <a:srgbClr val="1E293B"/>
              </a:solidFill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Respuestas</c:v>
                </c:pt>
              </c:strCache>
            </c:strRef>
          </c:tx>
          <c:spPr>
            <a:solidFill>
              <a:srgbClr val="F9731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E293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F9731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B3A6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E4D8C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7CB9E8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Cada 6 meses</c:v>
                  </c:pt>
                  <c:pt idx="1">
                    <c:v>Una vez al año</c:v>
                  </c:pt>
                  <c:pt idx="2">
                    <c:v>Cada 2 años</c:v>
                  </c:pt>
                  <c:pt idx="3">
                    <c:v>Raramente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18</c:v>
                </c:pt>
                <c:pt idx="1">
                  <c:v>35</c:v>
                </c:pt>
                <c:pt idx="2">
                  <c:v>30</c:v>
                </c:pt>
                <c:pt idx="3">
                  <c:v>17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E293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>
              <a:solidFill>
                <a:srgbClr val="1E293B"/>
              </a:solidFill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Respuestas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B3A6B"/>
              </a:solidFill>
              <a:effectLst/>
            </c:spPr>
          </c:dPt>
          <c:dPt>
            <c:idx val="1"/>
            <c:bubble3D val="0"/>
            <c:spPr>
              <a:solidFill>
                <a:srgbClr val="1E4D8C"/>
              </a:solidFill>
              <a:effectLst/>
            </c:spPr>
          </c:dPt>
          <c:dPt>
            <c:idx val="2"/>
            <c:bubble3D val="0"/>
            <c:spPr>
              <a:solidFill>
                <a:srgbClr val="7CB9E8"/>
              </a:solidFill>
              <a:effectLst/>
            </c:spPr>
          </c:dPt>
          <c:dPt>
            <c:idx val="3"/>
            <c:bubble3D val="0"/>
            <c:spPr>
              <a:solidFill>
                <a:srgbClr val="CADCFC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1E293B"/>
                      </a:solidFill>
                      <a:latin typeface="Arial"/>
                    </a:defRPr>
                  </a:pPr>
                </a:p>
              </c:txPr>
              <c:dLblPos val="bestFit"/>
              <c:showLegendKey val="0"/>
              <c:showVal val="1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1E293B"/>
                      </a:solidFill>
                      <a:latin typeface="Arial"/>
                    </a:defRPr>
                  </a:pPr>
                </a:p>
              </c:txPr>
              <c:dLblPos val="bestFit"/>
              <c:showLegendKey val="0"/>
              <c:showVal val="1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1E293B"/>
                      </a:solidFill>
                      <a:latin typeface="Arial"/>
                    </a:defRPr>
                  </a:pPr>
                </a:p>
              </c:txPr>
              <c:dLblPos val="bestFit"/>
              <c:showLegendKey val="0"/>
              <c:showVal val="1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1E293B"/>
                      </a:solidFill>
                      <a:latin typeface="Arial"/>
                    </a:defRPr>
                  </a:pPr>
                </a:p>
              </c:txPr>
              <c:dLblPos val="bestFit"/>
              <c:showLegendKey val="0"/>
              <c:showVal val="1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Sheet1!$A$2:$A$5</c:f>
              <c:strCache>
                <c:ptCount val="4"/>
                <c:pt idx="0">
                  <c:v>Definitivamente sí</c:v>
                </c:pt>
                <c:pt idx="1">
                  <c:v>Probablemente sí</c:v>
                </c:pt>
                <c:pt idx="2">
                  <c:v>Probablemente no</c:v>
                </c:pt>
                <c:pt idx="3">
                  <c:v>No</c:v>
                </c:pt>
              </c:strCache>
            </c:strRef>
          </c:cat>
          <c:val>
            <c:numRef>
              <c:f>Sheet1!$B$2:$B$5</c:f>
              <c:numCache>
                <c:ptCount val="4"/>
                <c:pt idx="0">
                  <c:v>45</c:v>
                </c:pt>
                <c:pt idx="1">
                  <c:v>38</c:v>
                </c:pt>
                <c:pt idx="2">
                  <c:v>12</c:v>
                </c:pt>
                <c:pt idx="3">
                  <c:v>5</c:v>
                </c:pt>
              </c:numCache>
            </c:numRef>
          </c:val>
        </c:ser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>
              <a:solidFill>
                <a:srgbClr val="1E293B"/>
              </a:solidFill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Respuestas</c:v>
                </c:pt>
              </c:strCache>
            </c:strRef>
          </c:tx>
          <c:spPr>
            <a:solidFill>
              <a:srgbClr val="1B3A6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E293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B3A6B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F97316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E4D8C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7CB9E8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Reporte fotográfico</c:v>
                  </c:pt>
                  <c:pt idx="1">
                    <c:v>Diagnóstico mecánico</c:v>
                  </c:pt>
                  <c:pt idx="2">
                    <c:v>Historial vehicular</c:v>
                  </c:pt>
                  <c:pt idx="3">
                    <c:v>Asesoría legal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32</c:v>
                </c:pt>
                <c:pt idx="1">
                  <c:v>41</c:v>
                </c:pt>
                <c:pt idx="2">
                  <c:v>19</c:v>
                </c:pt>
                <c:pt idx="3">
                  <c:v>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E293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>
              <a:solidFill>
                <a:srgbClr val="1E293B"/>
              </a:solidFill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Respuestas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F97316"/>
              </a:solidFill>
              <a:effectLst/>
            </c:spPr>
          </c:dPt>
          <c:dPt>
            <c:idx val="1"/>
            <c:bubble3D val="0"/>
            <c:spPr>
              <a:solidFill>
                <a:srgbClr val="1B3A6B"/>
              </a:solidFill>
              <a:effectLst/>
            </c:spPr>
          </c:dPt>
          <c:dPt>
            <c:idx val="2"/>
            <c:bubble3D val="0"/>
            <c:spPr>
              <a:solidFill>
                <a:srgbClr val="7CB9E8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1E293B"/>
                      </a:solidFill>
                      <a:latin typeface="Arial"/>
                    </a:defRPr>
                  </a:pPr>
                </a:p>
              </c:txPr>
              <c:dLblPos val="bestFit"/>
              <c:showLegendKey val="0"/>
              <c:showVal val="1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1E293B"/>
                      </a:solidFill>
                      <a:latin typeface="Arial"/>
                    </a:defRPr>
                  </a:pPr>
                </a:p>
              </c:txPr>
              <c:dLblPos val="bestFit"/>
              <c:showLegendKey val="0"/>
              <c:showVal val="1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1E293B"/>
                      </a:solidFill>
                      <a:latin typeface="Arial"/>
                    </a:defRPr>
                  </a:pPr>
                </a:p>
              </c:txPr>
              <c:dLblPos val="bestFit"/>
              <c:showLegendKey val="0"/>
              <c:showVal val="1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Definitivamente sí</c:v>
                </c:pt>
                <c:pt idx="1">
                  <c:v>Probablemente sí</c:v>
                </c:pt>
                <c:pt idx="2">
                  <c:v>No estoy seguro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71</c:v>
                </c:pt>
                <c:pt idx="1">
                  <c:v>22</c:v>
                </c:pt>
                <c:pt idx="2">
                  <c:v>7</c:v>
                </c:pt>
              </c:numCache>
            </c:numRef>
          </c:val>
        </c:ser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>
              <a:solidFill>
                <a:srgbClr val="1E293B"/>
              </a:solidFill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0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webp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webp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webp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3A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0" y="-457200"/>
            <a:ext cx="3657600" cy="3657600"/>
          </a:xfrm>
          <a:prstGeom prst="rect">
            <a:avLst/>
          </a:prstGeom>
          <a:solidFill>
            <a:srgbClr val="F97316">
              <a:alpha val="15000"/>
            </a:srgbClr>
          </a:solidFill>
          <a:ln w="12700">
            <a:solidFill>
              <a:srgbClr val="F97316">
                <a:alpha val="1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457200"/>
            <a:ext cx="1371600" cy="1371600"/>
          </a:xfrm>
          <a:prstGeom prst="ellipse">
            <a:avLst/>
          </a:prstGeom>
          <a:solidFill>
            <a:srgbClr val="F97316"/>
          </a:solidFill>
          <a:ln w="25400">
            <a:solidFill>
              <a:srgbClr val="EA6A0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45720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CA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2103120" y="548640"/>
            <a:ext cx="5486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spc="200" kern="0" dirty="0">
                <a:solidFill>
                  <a:srgbClr val="FFFFFF"/>
                </a:solidFill>
              </a:rPr>
              <a:t>CheckAuto</a:t>
            </a:r>
            <a:endParaRPr lang="en-US" sz="5400" dirty="0"/>
          </a:p>
        </p:txBody>
      </p:sp>
      <p:sp>
        <p:nvSpPr>
          <p:cNvPr id="6" name="Text 4"/>
          <p:cNvSpPr/>
          <p:nvPr/>
        </p:nvSpPr>
        <p:spPr>
          <a:xfrm>
            <a:off x="2103120" y="150876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rgbClr val="F97316"/>
                </a:solidFill>
              </a:rPr>
              <a:t>Inspecciona. Verifica. Confía.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548640" y="2286000"/>
            <a:ext cx="8046720" cy="36576"/>
          </a:xfrm>
          <a:prstGeom prst="rect">
            <a:avLst/>
          </a:prstGeom>
          <a:solidFill>
            <a:srgbClr val="F97316">
              <a:alpha val="70000"/>
            </a:srgbClr>
          </a:solidFill>
          <a:ln w="12700">
            <a:solidFill>
              <a:srgbClr val="F97316">
                <a:alpha val="70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2468880"/>
            <a:ext cx="8046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8D8F0"/>
                </a:solidFill>
              </a:rPr>
              <a:t>Plataforma de inspección y verificación automotriz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C8D8F0"/>
                </a:solidFill>
              </a:rPr>
              <a:t>Tu aliado para comprar y vender con seguridad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spc="200" kern="0" dirty="0">
                <a:solidFill>
                  <a:srgbClr val="7A9CC8"/>
                </a:solidFill>
              </a:rPr>
              <a:t>INVESTIGACIÓN DE MERCADO &amp; PLAN DE MARKETING DIGITAL  |  2024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228600" cy="822960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Misión, Visión y Valores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274320" y="1005840"/>
            <a:ext cx="2834640" cy="3749040"/>
          </a:xfrm>
          <a:prstGeom prst="roundRect">
            <a:avLst>
              <a:gd name="adj" fmla="val 3871"/>
            </a:avLst>
          </a:prstGeom>
          <a:solidFill>
            <a:srgbClr val="1E4D8C"/>
          </a:solidFill>
          <a:ln w="12700">
            <a:solidFill>
              <a:srgbClr val="1E4D8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274320" y="109728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</a:rPr>
              <a:t>🎯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Misión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1097280" y="2331720"/>
            <a:ext cx="1188720" cy="36576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11480" y="2468880"/>
            <a:ext cx="256032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D4E6FF"/>
                </a:solidFill>
              </a:rPr>
              <a:t>Brindar a compradores y vendedores de vehículos una plataforma confiable de inspección técnica y verificación automotriz, garantizando transparencia y seguridad en cada transacción.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246120" y="1005840"/>
            <a:ext cx="2834640" cy="3749040"/>
          </a:xfrm>
          <a:prstGeom prst="roundRect">
            <a:avLst>
              <a:gd name="adj" fmla="val 3871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246120" y="109728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</a:rPr>
              <a:t>🔭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3246120" y="178308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Visión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4069080" y="2331720"/>
            <a:ext cx="1188720" cy="36576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383280" y="2468880"/>
            <a:ext cx="256032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D4E6FF"/>
                </a:solidFill>
              </a:rPr>
              <a:t>Ser la plataforma líder de verificación automotriz en América Latina al 2028, transformando el mercado de compraventa de vehículos usados en un ecosistema de confianza.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217920" y="1005840"/>
            <a:ext cx="2834640" cy="3749040"/>
          </a:xfrm>
          <a:prstGeom prst="roundRect">
            <a:avLst>
              <a:gd name="adj" fmla="val 3871"/>
            </a:avLst>
          </a:prstGeom>
          <a:solidFill>
            <a:srgbClr val="1E4D8C"/>
          </a:solidFill>
          <a:ln w="12700">
            <a:solidFill>
              <a:srgbClr val="1E4D8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217920" y="109728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</a:rPr>
              <a:t>⭐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6217920" y="178308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Valores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7040880" y="2331720"/>
            <a:ext cx="1188720" cy="36576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355080" y="2468880"/>
            <a:ext cx="256032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D4E6FF"/>
                </a:solidFill>
              </a:rPr>
              <a:t>Transparencia · Confianza · Innovación · Responsabilidad · Excelencia · Compromiso con el cliente · Integridad técnica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228600" cy="822960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Descripción del Producto / Servicio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274320" y="960120"/>
            <a:ext cx="5029200" cy="3840480"/>
          </a:xfrm>
          <a:prstGeom prst="roundRect">
            <a:avLst>
              <a:gd name="adj" fmla="val 2381"/>
            </a:avLst>
          </a:prstGeom>
          <a:solidFill>
            <a:srgbClr val="FFFFFF"/>
          </a:solidFill>
          <a:ln w="12700">
            <a:solidFill>
              <a:srgbClr val="DCE8F5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457200" y="109728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</a:rPr>
              <a:t>¿Qué es CheckAuto?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1600200"/>
            <a:ext cx="4663440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</a:rPr>
              <a:t>CheckAuto es una plataforma digital y presencial de inspección y verificación automotriz que conecta a compradores y vendedores de vehículos usados con técnicos certificados.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</a:rPr>
              <a:t>Nuestro servicio incluye: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</a:rPr>
              <a:t>• Inspección técnica de 120 puntos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</a:rPr>
              <a:t>• Verificación de historial vehicular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</a:rPr>
              <a:t>• Reporte digital detallado en 24h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</a:rPr>
              <a:t>• Garantía de transparencia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</a:rPr>
              <a:t>• Asesoría personalizada pre y post venta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0" y="1051560"/>
            <a:ext cx="1554480" cy="1645920"/>
          </a:xfrm>
          <a:prstGeom prst="roundRect">
            <a:avLst>
              <a:gd name="adj" fmla="val 5882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486400" y="118872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🔍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5486400" y="1828800"/>
            <a:ext cx="15544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Inspección Técnica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7178040" y="1051560"/>
            <a:ext cx="1554480" cy="1645920"/>
          </a:xfrm>
          <a:prstGeom prst="roundRect">
            <a:avLst>
              <a:gd name="adj" fmla="val 5882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7178040" y="118872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📄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7178040" y="1828800"/>
            <a:ext cx="15544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Historial Vehicular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486400" y="2971800"/>
            <a:ext cx="1554480" cy="1645920"/>
          </a:xfrm>
          <a:prstGeom prst="roundRect">
            <a:avLst>
              <a:gd name="adj" fmla="val 5882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5486400" y="310896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📱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5486400" y="3749040"/>
            <a:ext cx="15544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Reporte Digital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178040" y="2971800"/>
            <a:ext cx="1554480" cy="1645920"/>
          </a:xfrm>
          <a:prstGeom prst="roundRect">
            <a:avLst>
              <a:gd name="adj" fmla="val 5882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7178040" y="310896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🛡️</a:t>
            </a:r>
            <a:endParaRPr lang="en-US" sz="2600" dirty="0"/>
          </a:p>
        </p:txBody>
      </p:sp>
      <p:sp>
        <p:nvSpPr>
          <p:cNvPr id="19" name="Text 17"/>
          <p:cNvSpPr/>
          <p:nvPr/>
        </p:nvSpPr>
        <p:spPr>
          <a:xfrm>
            <a:off x="7178040" y="3749040"/>
            <a:ext cx="15544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Garantía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228600" cy="822960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Propuesta de Valor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8229600" cy="960120"/>
          </a:xfrm>
          <a:prstGeom prst="roundRect">
            <a:avLst>
              <a:gd name="adj" fmla="val 9524"/>
            </a:avLst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960120"/>
            <a:ext cx="8229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CheckAuto te da la certeza que necesitas antes de comprar o vender un vehículo.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274320" y="2103120"/>
            <a:ext cx="2011680" cy="2743200"/>
          </a:xfrm>
          <a:prstGeom prst="roundRect">
            <a:avLst>
              <a:gd name="adj" fmla="val 4545"/>
            </a:avLst>
          </a:prstGeom>
          <a:solidFill>
            <a:srgbClr val="F8FAFF"/>
          </a:solidFill>
          <a:ln w="12700">
            <a:solidFill>
              <a:srgbClr val="DCE8F5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274320" y="219456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✅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274320" y="288036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3A6B"/>
                </a:solidFill>
              </a:rPr>
              <a:t>Confianza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914400" y="3319272"/>
            <a:ext cx="731520" cy="36576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5760" y="3429000"/>
            <a:ext cx="182880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Informes certificados por técnicos especializados con más de 5 años de experiencia.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2450592" y="2103120"/>
            <a:ext cx="2011680" cy="2743200"/>
          </a:xfrm>
          <a:prstGeom prst="roundRect">
            <a:avLst>
              <a:gd name="adj" fmla="val 4545"/>
            </a:avLst>
          </a:prstGeom>
          <a:solidFill>
            <a:srgbClr val="F8FAFF"/>
          </a:solidFill>
          <a:ln w="12700">
            <a:solidFill>
              <a:srgbClr val="DCE8F5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450592" y="219456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⚡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2450592" y="288036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3A6B"/>
                </a:solidFill>
              </a:rPr>
              <a:t>Rapidez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3090672" y="3319272"/>
            <a:ext cx="731520" cy="36576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542032" y="3429000"/>
            <a:ext cx="182880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Resultados en menos de 24 horas directamente en tu dispositivo.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626864" y="2103120"/>
            <a:ext cx="2011680" cy="2743200"/>
          </a:xfrm>
          <a:prstGeom prst="roundRect">
            <a:avLst>
              <a:gd name="adj" fmla="val 4545"/>
            </a:avLst>
          </a:prstGeom>
          <a:solidFill>
            <a:srgbClr val="F8FAFF"/>
          </a:solidFill>
          <a:ln w="12700">
            <a:solidFill>
              <a:srgbClr val="DCE8F5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626864" y="219456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💰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4626864" y="288036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3A6B"/>
                </a:solidFill>
              </a:rPr>
              <a:t>Ahorro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266944" y="3319272"/>
            <a:ext cx="731520" cy="36576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718304" y="3429000"/>
            <a:ext cx="182880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Evita compras costosas con defectos ocultos. Ahorra hasta el 30% en reparaciones.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803136" y="2103120"/>
            <a:ext cx="2011680" cy="2743200"/>
          </a:xfrm>
          <a:prstGeom prst="roundRect">
            <a:avLst>
              <a:gd name="adj" fmla="val 4545"/>
            </a:avLst>
          </a:prstGeom>
          <a:solidFill>
            <a:srgbClr val="F8FAFF"/>
          </a:solidFill>
          <a:ln w="12700">
            <a:solidFill>
              <a:srgbClr val="DCE8F5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803136" y="219456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📍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6803136" y="288036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3A6B"/>
                </a:solidFill>
              </a:rPr>
              <a:t>Accesibilidad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7443216" y="3319272"/>
            <a:ext cx="731520" cy="36576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894576" y="3429000"/>
            <a:ext cx="182880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Disponible en toda la ciudad. Agendamiento en línea o inspección a domicilio.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228600" cy="822960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Canales de Distribución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274320" y="960120"/>
            <a:ext cx="4114800" cy="3886200"/>
          </a:xfrm>
          <a:prstGeom prst="roundRect">
            <a:avLst>
              <a:gd name="adj" fmla="val 2824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457200" y="1051560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97316"/>
                </a:solidFill>
              </a:rPr>
              <a:t>🏪  Canales Físicos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1691640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8D8F0"/>
                </a:solidFill>
              </a:rPr>
              <a:t>→  Centro de inspección propio (taller autorizado)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2286000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8D8F0"/>
                </a:solidFill>
              </a:rPr>
              <a:t>→  Inspecciones a domicilio (mecánico móvil)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2880360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8D8F0"/>
                </a:solidFill>
              </a:rPr>
              <a:t>→  Alianzas con talleres y concesionarios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57200" y="3474720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8D8F0"/>
                </a:solidFill>
              </a:rPr>
              <a:t>→  Ferias automotrices y eventos de vehículos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4069080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8D8F0"/>
                </a:solidFill>
              </a:rPr>
              <a:t>→  Puntos de atención en centros comerciales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754880" y="960120"/>
            <a:ext cx="4114800" cy="3886200"/>
          </a:xfrm>
          <a:prstGeom prst="roundRect">
            <a:avLst>
              <a:gd name="adj" fmla="val 2824"/>
            </a:avLst>
          </a:prstGeom>
          <a:solidFill>
            <a:srgbClr val="1E4D8C"/>
          </a:solidFill>
          <a:ln w="12700">
            <a:solidFill>
              <a:srgbClr val="1E4D8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937760" y="1051560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97316"/>
                </a:solidFill>
              </a:rPr>
              <a:t>💻  Canales Digitales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937760" y="1691640"/>
            <a:ext cx="3749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8D8F0"/>
                </a:solidFill>
              </a:rPr>
              <a:t>→  Sitio web con agendamiento en línea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937760" y="2221992"/>
            <a:ext cx="3749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8D8F0"/>
                </a:solidFill>
              </a:rPr>
              <a:t>→  App móvil iOS y Android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937760" y="2752344"/>
            <a:ext cx="3749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8D8F0"/>
                </a:solidFill>
              </a:rPr>
              <a:t>→  WhatsApp Business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937760" y="3282696"/>
            <a:ext cx="3749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8D8F0"/>
                </a:solidFill>
              </a:rPr>
              <a:t>→  Redes sociales (Instagram, TikTok, Facebook)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937760" y="3813048"/>
            <a:ext cx="3749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8D8F0"/>
                </a:solidFill>
              </a:rPr>
              <a:t>→  E-commerce de reportes y servicios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937760" y="4343400"/>
            <a:ext cx="3749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8D8F0"/>
                </a:solidFill>
              </a:rPr>
              <a:t>→  Marketplace automotriz (OLX, Patiotuerca)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228600" cy="822960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Justificación del Precio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2560320" cy="3657600"/>
          </a:xfrm>
          <a:prstGeom prst="roundRect">
            <a:avLst>
              <a:gd name="adj" fmla="val 4286"/>
            </a:avLst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457200" y="137160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spc="300" kern="0" dirty="0">
                <a:solidFill>
                  <a:srgbClr val="FFFFFF"/>
                </a:solidFill>
              </a:rPr>
              <a:t>BÁSICO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187452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$29</a:t>
            </a:r>
            <a:endParaRPr lang="en-US" sz="4200" dirty="0"/>
          </a:p>
        </p:txBody>
      </p:sp>
      <p:sp>
        <p:nvSpPr>
          <p:cNvPr id="8" name="Text 6"/>
          <p:cNvSpPr/>
          <p:nvPr/>
        </p:nvSpPr>
        <p:spPr>
          <a:xfrm>
            <a:off x="457200" y="260604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8D8F0"/>
                </a:solidFill>
              </a:rPr>
              <a:t>por inspección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914400" y="2926080"/>
            <a:ext cx="1645920" cy="27432"/>
          </a:xfrm>
          <a:prstGeom prst="rect">
            <a:avLst/>
          </a:prstGeom>
          <a:solidFill>
            <a:srgbClr val="FFFFFF">
              <a:alpha val="50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94360" y="3017520"/>
            <a:ext cx="22860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E6FF"/>
                </a:solidFill>
              </a:rPr>
              <a:t>Inspección de 60 puntos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D4E6FF"/>
                </a:solidFill>
              </a:rPr>
              <a:t>Reporte digital básico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D4E6FF"/>
                </a:solidFill>
              </a:rPr>
              <a:t>Verificación de documentos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D4E6FF"/>
                </a:solidFill>
              </a:rPr>
              <a:t>Válido 15 días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291840" y="914400"/>
            <a:ext cx="2560320" cy="4023360"/>
          </a:xfrm>
          <a:prstGeom prst="roundRect">
            <a:avLst>
              <a:gd name="adj" fmla="val 4286"/>
            </a:avLst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291840" y="96012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</a:rPr>
              <a:t>MÁS POPULAR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291840" y="132588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spc="300" kern="0" dirty="0">
                <a:solidFill>
                  <a:srgbClr val="FFFFFF"/>
                </a:solidFill>
              </a:rPr>
              <a:t>PRO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3291840" y="182880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$59</a:t>
            </a:r>
            <a:endParaRPr lang="en-US" sz="4200" dirty="0"/>
          </a:p>
        </p:txBody>
      </p:sp>
      <p:sp>
        <p:nvSpPr>
          <p:cNvPr id="15" name="Text 13"/>
          <p:cNvSpPr/>
          <p:nvPr/>
        </p:nvSpPr>
        <p:spPr>
          <a:xfrm>
            <a:off x="3291840" y="256032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8D8F0"/>
                </a:solidFill>
              </a:rPr>
              <a:t>por inspección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749040" y="2880360"/>
            <a:ext cx="1645920" cy="27432"/>
          </a:xfrm>
          <a:prstGeom prst="rect">
            <a:avLst/>
          </a:prstGeom>
          <a:solidFill>
            <a:srgbClr val="FFFFFF">
              <a:alpha val="50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429000" y="2971800"/>
            <a:ext cx="22860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E6FF"/>
                </a:solidFill>
              </a:rPr>
              <a:t>Inspección de 120 puntos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D4E6FF"/>
                </a:solidFill>
              </a:rPr>
              <a:t>Reporte detallado con fotos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D4E6FF"/>
                </a:solidFill>
              </a:rPr>
              <a:t>Historial completo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D4E6FF"/>
                </a:solidFill>
              </a:rPr>
              <a:t>Asesoría incluida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D4E6FF"/>
                </a:solidFill>
              </a:rPr>
              <a:t>Válido 30 días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126480" y="1097280"/>
            <a:ext cx="2560320" cy="3657600"/>
          </a:xfrm>
          <a:prstGeom prst="roundRect">
            <a:avLst>
              <a:gd name="adj" fmla="val 4286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6126480" y="137160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spc="300" kern="0" dirty="0">
                <a:solidFill>
                  <a:srgbClr val="FFFFFF"/>
                </a:solidFill>
              </a:rPr>
              <a:t>PREMIUM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6126480" y="187452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$99</a:t>
            </a:r>
            <a:endParaRPr lang="en-US" sz="4200" dirty="0"/>
          </a:p>
        </p:txBody>
      </p:sp>
      <p:sp>
        <p:nvSpPr>
          <p:cNvPr id="21" name="Text 19"/>
          <p:cNvSpPr/>
          <p:nvPr/>
        </p:nvSpPr>
        <p:spPr>
          <a:xfrm>
            <a:off x="6126480" y="260604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8D8F0"/>
                </a:solidFill>
              </a:rPr>
              <a:t>por inspección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583680" y="2926080"/>
            <a:ext cx="1645920" cy="27432"/>
          </a:xfrm>
          <a:prstGeom prst="rect">
            <a:avLst/>
          </a:prstGeom>
          <a:solidFill>
            <a:srgbClr val="FFFFFF">
              <a:alpha val="50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263640" y="3017520"/>
            <a:ext cx="22860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E6FF"/>
                </a:solidFill>
              </a:rPr>
              <a:t>Todo lo del plan Pro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D4E6FF"/>
                </a:solidFill>
              </a:rPr>
              <a:t>Inspección mecánica avanzada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D4E6FF"/>
                </a:solidFill>
              </a:rPr>
              <a:t>Diagnóstico electrónico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D4E6FF"/>
                </a:solidFill>
              </a:rPr>
              <a:t>Garantía de 3 meses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D4E6FF"/>
                </a:solidFill>
              </a:rPr>
              <a:t>Soporte prioritario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228600" cy="822960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Encuesta de Investigación de Mercado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74320" y="960120"/>
            <a:ext cx="859536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DCE8F5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457200" y="9601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</a:rPr>
              <a:t>1. ¿Ha comprado o vendido un vehículo usado en los últimos 2 años?</a:t>
            </a:r>
            <a:endParaRPr lang="en-US" sz="14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457200" y="1828800"/>
          <a:ext cx="8229600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228600" cy="822960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Encuesta de Investigación de Mercado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74320" y="960120"/>
            <a:ext cx="859536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DCE8F5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457200" y="9601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</a:rPr>
              <a:t>2. ¿Conoce algún servicio de inspección vehicular independiente?</a:t>
            </a:r>
            <a:endParaRPr lang="en-US" sz="14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457200" y="1828800"/>
          <a:ext cx="8229600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228600" cy="822960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Encuesta de Investigación de Mercado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74320" y="960120"/>
            <a:ext cx="859536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DCE8F5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457200" y="9601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</a:rPr>
              <a:t>3. ¿Qué tan importante considera la inspección técnica antes de comprar un vehículo usado?</a:t>
            </a:r>
            <a:endParaRPr lang="en-US" sz="14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457200" y="1828800"/>
          <a:ext cx="8229600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228600" cy="822960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Encuesta de Investigación de Mercado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74320" y="960120"/>
            <a:ext cx="859536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DCE8F5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457200" y="9601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</a:rPr>
              <a:t>4. ¿Cuánto estaría dispuesto a pagar por una inspección vehicular confiable?</a:t>
            </a:r>
            <a:endParaRPr lang="en-US" sz="14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457200" y="1828800"/>
          <a:ext cx="8229600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228600" cy="822960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Encuesta de Investigación de Mercado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74320" y="960120"/>
            <a:ext cx="859536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DCE8F5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457200" y="9601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</a:rPr>
              <a:t>5. ¿Qué problema ha tenido al comprar un vehículo usado?</a:t>
            </a:r>
            <a:endParaRPr lang="en-US" sz="14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457200" y="1828800"/>
          <a:ext cx="8229600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228600" cy="822960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Encuesta de Investigación de Mercado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74320" y="960120"/>
            <a:ext cx="859536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DCE8F5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457200" y="9601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</a:rPr>
              <a:t>6. ¿A través de qué medio preferiría agendar una inspección?</a:t>
            </a:r>
            <a:endParaRPr lang="en-US" sz="14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457200" y="1828800"/>
          <a:ext cx="8229600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228600" cy="822960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Encuesta de Investigación de Mercado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74320" y="960120"/>
            <a:ext cx="859536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DCE8F5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457200" y="9601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</a:rPr>
              <a:t>7. ¿Con qué frecuencia realiza transacciones de vehículos usados?</a:t>
            </a:r>
            <a:endParaRPr lang="en-US" sz="14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457200" y="1828800"/>
          <a:ext cx="8229600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228600" cy="822960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Encuesta de Investigación de Mercado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74320" y="960120"/>
            <a:ext cx="859536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DCE8F5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457200" y="9601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</a:rPr>
              <a:t>8. ¿Utilizaría una plataforma digital de verificación automotriz?</a:t>
            </a:r>
            <a:endParaRPr lang="en-US" sz="14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457200" y="1828800"/>
          <a:ext cx="8229600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228600" cy="822960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Encuesta de Investigación de Mercado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74320" y="960120"/>
            <a:ext cx="859536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DCE8F5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457200" y="9601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</a:rPr>
              <a:t>9. ¿Cuál de estos servicios le parece más valioso en una inspección?</a:t>
            </a:r>
            <a:endParaRPr lang="en-US" sz="14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457200" y="1828800"/>
          <a:ext cx="8229600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228600" cy="822960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Encuesta de Investigación de Mercado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74320" y="960120"/>
            <a:ext cx="859536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DCE8F5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457200" y="9601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</a:rPr>
              <a:t>10. ¿Recomendaría CheckAuto si el servicio cumple sus expectativas?</a:t>
            </a:r>
            <a:endParaRPr lang="en-US" sz="14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457200" y="1828800"/>
          <a:ext cx="8229600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228600" cy="822960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Resumen de Principales Hallazgos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274320" y="1005840"/>
            <a:ext cx="2788920" cy="1783080"/>
          </a:xfrm>
          <a:prstGeom prst="roundRect">
            <a:avLst>
              <a:gd name="adj" fmla="val 5128"/>
            </a:avLst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274320" y="1097280"/>
            <a:ext cx="2788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68%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411480" y="1828800"/>
            <a:ext cx="2514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E6FF"/>
                </a:solidFill>
              </a:rPr>
              <a:t>ha realizado compraventa de vehículos usados en los últimos 2 años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246120" y="1005840"/>
            <a:ext cx="2788920" cy="1783080"/>
          </a:xfrm>
          <a:prstGeom prst="roundRect">
            <a:avLst>
              <a:gd name="adj" fmla="val 5128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246120" y="1097280"/>
            <a:ext cx="2788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83%</a:t>
            </a:r>
            <a:endParaRPr lang="en-US" sz="4400" dirty="0"/>
          </a:p>
        </p:txBody>
      </p:sp>
      <p:sp>
        <p:nvSpPr>
          <p:cNvPr id="10" name="Text 8"/>
          <p:cNvSpPr/>
          <p:nvPr/>
        </p:nvSpPr>
        <p:spPr>
          <a:xfrm>
            <a:off x="3383280" y="1828800"/>
            <a:ext cx="2514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E6FF"/>
                </a:solidFill>
              </a:rPr>
              <a:t>utilizaría una plataforma digital de verificación automotriz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17920" y="1005840"/>
            <a:ext cx="2788920" cy="1783080"/>
          </a:xfrm>
          <a:prstGeom prst="roundRect">
            <a:avLst>
              <a:gd name="adj" fmla="val 5128"/>
            </a:avLst>
          </a:prstGeom>
          <a:solidFill>
            <a:srgbClr val="1E4D8C"/>
          </a:solidFill>
          <a:ln w="12700">
            <a:solidFill>
              <a:srgbClr val="1E4D8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217920" y="1097280"/>
            <a:ext cx="2788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74%</a:t>
            </a:r>
            <a:endParaRPr lang="en-US" sz="4400" dirty="0"/>
          </a:p>
        </p:txBody>
      </p:sp>
      <p:sp>
        <p:nvSpPr>
          <p:cNvPr id="13" name="Text 11"/>
          <p:cNvSpPr/>
          <p:nvPr/>
        </p:nvSpPr>
        <p:spPr>
          <a:xfrm>
            <a:off x="6355080" y="1828800"/>
            <a:ext cx="2514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E6FF"/>
                </a:solidFill>
              </a:rPr>
              <a:t>pagaría entre $40 y más de $70 por una inspección confiable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274320" y="2971800"/>
            <a:ext cx="2788920" cy="1783080"/>
          </a:xfrm>
          <a:prstGeom prst="roundRect">
            <a:avLst>
              <a:gd name="adj" fmla="val 5128"/>
            </a:avLst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274320" y="3063240"/>
            <a:ext cx="2788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48%</a:t>
            </a:r>
            <a:endParaRPr lang="en-US" sz="4400" dirty="0"/>
          </a:p>
        </p:txBody>
      </p:sp>
      <p:sp>
        <p:nvSpPr>
          <p:cNvPr id="16" name="Text 14"/>
          <p:cNvSpPr/>
          <p:nvPr/>
        </p:nvSpPr>
        <p:spPr>
          <a:xfrm>
            <a:off x="411480" y="3794760"/>
            <a:ext cx="2514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E6FF"/>
                </a:solidFill>
              </a:rPr>
              <a:t>ha sufrido problemas de defectos ocultos al comprar un vehículo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246120" y="2971800"/>
            <a:ext cx="2788920" cy="1783080"/>
          </a:xfrm>
          <a:prstGeom prst="roundRect">
            <a:avLst>
              <a:gd name="adj" fmla="val 5128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3246120" y="3063240"/>
            <a:ext cx="2788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93%</a:t>
            </a:r>
            <a:endParaRPr lang="en-US" sz="4400" dirty="0"/>
          </a:p>
        </p:txBody>
      </p:sp>
      <p:sp>
        <p:nvSpPr>
          <p:cNvPr id="19" name="Text 17"/>
          <p:cNvSpPr/>
          <p:nvPr/>
        </p:nvSpPr>
        <p:spPr>
          <a:xfrm>
            <a:off x="3383280" y="3794760"/>
            <a:ext cx="2514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E6FF"/>
                </a:solidFill>
              </a:rPr>
              <a:t>considera importante o muy importante la inspección técnica previa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217920" y="2971800"/>
            <a:ext cx="2788920" cy="1783080"/>
          </a:xfrm>
          <a:prstGeom prst="roundRect">
            <a:avLst>
              <a:gd name="adj" fmla="val 5128"/>
            </a:avLst>
          </a:prstGeom>
          <a:solidFill>
            <a:srgbClr val="1E4D8C"/>
          </a:solidFill>
          <a:ln w="12700">
            <a:solidFill>
              <a:srgbClr val="1E4D8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6217920" y="3063240"/>
            <a:ext cx="2788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71%</a:t>
            </a:r>
            <a:endParaRPr lang="en-US" sz="4400" dirty="0"/>
          </a:p>
        </p:txBody>
      </p:sp>
      <p:sp>
        <p:nvSpPr>
          <p:cNvPr id="22" name="Text 20"/>
          <p:cNvSpPr/>
          <p:nvPr/>
        </p:nvSpPr>
        <p:spPr>
          <a:xfrm>
            <a:off x="6355080" y="3794760"/>
            <a:ext cx="2514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E6FF"/>
                </a:solidFill>
              </a:rPr>
              <a:t>recomendaría CheckAuto si cumple sus expectativas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228600" cy="822960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Entrevista 1 de 3</a:t>
            </a:r>
            <a:endParaRPr lang="en-US" sz="2400" dirty="0"/>
          </a:p>
        </p:txBody>
      </p:sp>
      <p:pic>
        <p:nvPicPr>
          <p:cNvPr id="5" name="Image 0" descr="C:\Users\Jhnn\Downloads\entrevista1.webp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20040" y="960120"/>
            <a:ext cx="2194560" cy="233172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320040" y="960120"/>
            <a:ext cx="2194560" cy="2331720"/>
          </a:xfrm>
          <a:prstGeom prst="roundRect">
            <a:avLst>
              <a:gd name="adj" fmla="val 6250"/>
            </a:avLst>
          </a:prstGeom>
          <a:solidFill>
            <a:srgbClr val="FFFFFF">
              <a:alpha val="0"/>
            </a:srgbClr>
          </a:solidFill>
          <a:ln w="31750">
            <a:solidFill>
              <a:srgbClr val="1E4D8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2697480" y="96012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CE8F5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2834640" y="1005840"/>
            <a:ext cx="5852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</a:rPr>
              <a:t>Jason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2834640" y="1627632"/>
            <a:ext cx="1097280" cy="36576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2834640" y="1691640"/>
            <a:ext cx="5852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</a:rPr>
              <a:t>22 años  ·  Asistente de Ventas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274320" y="2514600"/>
            <a:ext cx="4206240" cy="237744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2700">
            <a:solidFill>
              <a:srgbClr val="D1FAE5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457200" y="2587752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A34A"/>
                </a:solidFill>
              </a:rPr>
              <a:t>✅  Insights Positivos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457200" y="3017520"/>
            <a:ext cx="38404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</a:rPr>
              <a:t>＋  Considera que CheckAuto genera confianza en el proceso de venta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57200" y="3611880"/>
            <a:ext cx="38404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</a:rPr>
              <a:t>＋  Le parece útil tener un reporte oficial para mostrar al comprador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57200" y="4206240"/>
            <a:ext cx="38404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</a:rPr>
              <a:t>＋  Cree que acelera el cierre de ventas al eliminar dudas del cliente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4663440" y="2514600"/>
            <a:ext cx="4206240" cy="237744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2700">
            <a:solidFill>
              <a:srgbClr val="FEE2E2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7" name="Text 14"/>
          <p:cNvSpPr/>
          <p:nvPr/>
        </p:nvSpPr>
        <p:spPr>
          <a:xfrm>
            <a:off x="4846320" y="2587752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C2626"/>
                </a:solidFill>
              </a:rPr>
              <a:t>⚠️  Insights Negativos / Oportunidades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4846320" y="3017520"/>
            <a:ext cx="38404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</a:rPr>
              <a:t>－  Preocupa que un informe negativo frene una venta en curso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4846320" y="3611880"/>
            <a:ext cx="38404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</a:rPr>
              <a:t>－  Preferiría que la inspección dure menos de 2 horas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4846320" y="4206240"/>
            <a:ext cx="38404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</a:rPr>
              <a:t>－  Quisiera opciones de precio más accesibles para vendedores frecuentes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228600" cy="822960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Entrevista 2 de 3</a:t>
            </a:r>
            <a:endParaRPr lang="en-US" sz="2400" dirty="0"/>
          </a:p>
        </p:txBody>
      </p:sp>
      <p:pic>
        <p:nvPicPr>
          <p:cNvPr id="5" name="Image 0" descr="C:\Users\Jhnn\Downloads\entrevista2.webp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20040" y="960120"/>
            <a:ext cx="2194560" cy="233172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320040" y="960120"/>
            <a:ext cx="2194560" cy="2331720"/>
          </a:xfrm>
          <a:prstGeom prst="roundRect">
            <a:avLst>
              <a:gd name="adj" fmla="val 6250"/>
            </a:avLst>
          </a:prstGeom>
          <a:solidFill>
            <a:srgbClr val="FFFFFF">
              <a:alpha val="0"/>
            </a:srgbClr>
          </a:solidFill>
          <a:ln w="31750">
            <a:solidFill>
              <a:srgbClr val="1E4D8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2697480" y="96012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CE8F5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2834640" y="1005840"/>
            <a:ext cx="5852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</a:rPr>
              <a:t>Luana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2834640" y="1627632"/>
            <a:ext cx="1097280" cy="36576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2834640" y="1691640"/>
            <a:ext cx="5852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</a:rPr>
              <a:t>23 años  ·  Diseñadora UX/UI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274320" y="2514600"/>
            <a:ext cx="4206240" cy="237744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2700">
            <a:solidFill>
              <a:srgbClr val="D1FAE5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457200" y="2587752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A34A"/>
                </a:solidFill>
              </a:rPr>
              <a:t>✅  Insights Positivos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457200" y="3017520"/>
            <a:ext cx="38404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</a:rPr>
              <a:t>＋  Valora muchísimo la transparencia visual del reporte digital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57200" y="3611880"/>
            <a:ext cx="38404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</a:rPr>
              <a:t>＋  Le parece intuitiva la idea de agendar desde la app o web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57200" y="4206240"/>
            <a:ext cx="38404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</a:rPr>
              <a:t>＋  Destaca la importancia de una experiencia de usuario clara y confiable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4663440" y="2514600"/>
            <a:ext cx="4206240" cy="237744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2700">
            <a:solidFill>
              <a:srgbClr val="FEE2E2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7" name="Text 14"/>
          <p:cNvSpPr/>
          <p:nvPr/>
        </p:nvSpPr>
        <p:spPr>
          <a:xfrm>
            <a:off x="4846320" y="2587752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C2626"/>
                </a:solidFill>
              </a:rPr>
              <a:t>⚠️  Insights Negativos / Oportunidades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4846320" y="3017520"/>
            <a:ext cx="38404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</a:rPr>
              <a:t>－  Considera que la interfaz actual necesita mayor claridad visual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4846320" y="3611880"/>
            <a:ext cx="38404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</a:rPr>
              <a:t>－  Sugiere mejorar el flujo de onboarding para nuevos usuarios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4846320" y="4206240"/>
            <a:ext cx="38404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</a:rPr>
              <a:t>－  Le gustaría que el reporte tenga más elementos visuales e íconos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228600" cy="822960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Entrevista 3 de 3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320040" y="960120"/>
            <a:ext cx="2194560" cy="2331720"/>
          </a:xfrm>
          <a:prstGeom prst="roundRect">
            <a:avLst>
              <a:gd name="adj" fmla="val 6250"/>
            </a:avLst>
          </a:prstGeom>
          <a:solidFill>
            <a:srgbClr val="EBF2FC"/>
          </a:solidFill>
          <a:ln w="31750">
            <a:solidFill>
              <a:srgbClr val="1E4D8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320040" y="141732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000000"/>
                </a:solidFill>
              </a:rPr>
              <a:t>📷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320040" y="210312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1E4D8C"/>
                </a:solidFill>
              </a:rPr>
              <a:t>Insertar foto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i="1" dirty="0">
                <a:solidFill>
                  <a:srgbClr val="1E4D8C"/>
                </a:solidFill>
              </a:rPr>
              <a:t>del entrevistado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697480" y="96012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CE8F5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2834640" y="1005840"/>
            <a:ext cx="5852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</a:rPr>
              <a:t>Participante Focus Group</a:t>
            </a:r>
            <a:endParaRPr lang="en-US" sz="2600" dirty="0"/>
          </a:p>
        </p:txBody>
      </p:sp>
      <p:sp>
        <p:nvSpPr>
          <p:cNvPr id="10" name="Shape 8"/>
          <p:cNvSpPr/>
          <p:nvPr/>
        </p:nvSpPr>
        <p:spPr>
          <a:xfrm>
            <a:off x="2834640" y="1627632"/>
            <a:ext cx="1097280" cy="36576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834640" y="1691640"/>
            <a:ext cx="5852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</a:rPr>
              <a:t>Grupo mixto  ·  Compradores y vendedores de vehículos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274320" y="2514600"/>
            <a:ext cx="4206240" cy="237744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2700">
            <a:solidFill>
              <a:srgbClr val="D1FAE5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57200" y="2587752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A34A"/>
                </a:solidFill>
              </a:rPr>
              <a:t>✅  Insights Positivos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57200" y="3017520"/>
            <a:ext cx="38404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</a:rPr>
              <a:t>＋  Alta receptividad general al servicio de CheckAuto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3611880"/>
            <a:ext cx="38404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</a:rPr>
              <a:t>＋  Disposición a pagar por tranquilidad y seguridad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57200" y="4206240"/>
            <a:ext cx="38404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</a:rPr>
              <a:t>＋  Prefieren reportes digitales con fotos y diagnóstico claro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663440" y="2514600"/>
            <a:ext cx="4206240" cy="237744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2700">
            <a:solidFill>
              <a:srgbClr val="FEE2E2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846320" y="2587752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C2626"/>
                </a:solidFill>
              </a:rPr>
              <a:t>⚠️  Insights Negativos / Oportunidades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846320" y="3017520"/>
            <a:ext cx="38404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</a:rPr>
              <a:t>－  Desconfianza en la imparcialidad del inspector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846320" y="3611880"/>
            <a:ext cx="38404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</a:rPr>
              <a:t>－  Preocupación por tiempos de espera del servicio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846320" y="4206240"/>
            <a:ext cx="38404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</a:rPr>
              <a:t>－  Falta de claridad en qué incluye exactamente cada plan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228600" cy="822960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Focus Group</a:t>
            </a:r>
            <a:endParaRPr lang="en-US" sz="2400" dirty="0"/>
          </a:p>
        </p:txBody>
      </p:sp>
      <p:pic>
        <p:nvPicPr>
          <p:cNvPr id="5" name="Image 0" descr="C:\Users\Jhnn\Downloads\focusgroup.webp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74320" y="960120"/>
            <a:ext cx="4160520" cy="283464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274320" y="960120"/>
            <a:ext cx="4160520" cy="2834640"/>
          </a:xfrm>
          <a:prstGeom prst="roundRect">
            <a:avLst>
              <a:gd name="adj" fmla="val 3871"/>
            </a:avLst>
          </a:prstGeom>
          <a:solidFill>
            <a:srgbClr val="FFFFFF">
              <a:alpha val="0"/>
            </a:srgbClr>
          </a:solidFill>
          <a:ln w="31750">
            <a:solidFill>
              <a:srgbClr val="1E4D8C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274320" y="3840480"/>
            <a:ext cx="4160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4748B"/>
                </a:solidFill>
              </a:rPr>
              <a:t>11 participantes · Modalidad virtual · Google Meet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4663440" y="960120"/>
            <a:ext cx="4206240" cy="1691640"/>
          </a:xfrm>
          <a:prstGeom prst="roundRect">
            <a:avLst>
              <a:gd name="adj" fmla="val 5405"/>
            </a:avLst>
          </a:prstGeom>
          <a:solidFill>
            <a:srgbClr val="F8FAFF"/>
          </a:solidFill>
          <a:ln w="12700">
            <a:solidFill>
              <a:srgbClr val="D1FAE5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4846320" y="1033272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A34A"/>
                </a:solidFill>
              </a:rPr>
              <a:t>✅  Insights Positivos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4846320" y="1463040"/>
            <a:ext cx="3840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</a:rPr>
              <a:t>＋  El grupo valora tener un respaldo técnico y oficial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4846320" y="1737360"/>
            <a:ext cx="3840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</a:rPr>
              <a:t>＋  Alta disposición a recomendar el servicio a familiares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4846320" y="2011680"/>
            <a:ext cx="3840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</a:rPr>
              <a:t>＋  Prefieren el agendamiento digital por WhatsApp o app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4846320" y="2286000"/>
            <a:ext cx="3840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</a:rPr>
              <a:t>＋  Consideran el precio razonable si el reporte incluye fotos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4663440" y="2743200"/>
            <a:ext cx="4206240" cy="1691640"/>
          </a:xfrm>
          <a:prstGeom prst="roundRect">
            <a:avLst>
              <a:gd name="adj" fmla="val 5405"/>
            </a:avLst>
          </a:prstGeom>
          <a:solidFill>
            <a:srgbClr val="F8FAFF"/>
          </a:solidFill>
          <a:ln w="12700">
            <a:solidFill>
              <a:srgbClr val="FEE2E2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4846320" y="2816352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C2626"/>
                </a:solidFill>
              </a:rPr>
              <a:t>⚠️  Insights Negativos / Oportunidades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4846320" y="3246120"/>
            <a:ext cx="3840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</a:rPr>
              <a:t>－  Desconfianza en la imparcialidad del inspector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4846320" y="3520440"/>
            <a:ext cx="3840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</a:rPr>
              <a:t>－  Preocupación por tiempos de espera prolongados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4846320" y="3794760"/>
            <a:ext cx="3840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</a:rPr>
              <a:t>－  Poca claridad sobre qué incluye cada plan de servicio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4846320" y="4069080"/>
            <a:ext cx="3840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</a:rPr>
              <a:t>－  Solicitaron comparativa de precios vs competencia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274320" y="3977640"/>
            <a:ext cx="8595360" cy="868680"/>
          </a:xfrm>
          <a:prstGeom prst="roundRect">
            <a:avLst>
              <a:gd name="adj" fmla="val 10526"/>
            </a:avLst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57200" y="3977640"/>
            <a:ext cx="82296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Conclusión: El mercado muestra alta necesidad y receptividad. La clave diferenciadora es la transparencia y la rapidez del servicio.</a:t>
            </a:r>
            <a:endParaRPr lang="en-US" sz="13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228600" cy="822960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Marketing Digital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274320" y="960120"/>
            <a:ext cx="4114800" cy="3886200"/>
          </a:xfrm>
          <a:prstGeom prst="roundRect">
            <a:avLst>
              <a:gd name="adj" fmla="val 2824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457200" y="1051560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97316"/>
                </a:solidFill>
              </a:rPr>
              <a:t>⬅️  Inbound Marketing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457200" y="1691640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8D8F0"/>
                </a:solidFill>
              </a:rPr>
              <a:t>→  Blog de consejos automotrices (SEO)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2286000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8D8F0"/>
                </a:solidFill>
              </a:rPr>
              <a:t>→  Videos educativos en YouTube y TikTok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2880360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8D8F0"/>
                </a:solidFill>
              </a:rPr>
              <a:t>→  Guías descargables: 'Cómo comprar auto seguro'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57200" y="3474720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8D8F0"/>
                </a:solidFill>
              </a:rPr>
              <a:t>→  Email marketing con tips y ofertas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4069080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8D8F0"/>
                </a:solidFill>
              </a:rPr>
              <a:t>→  Webinars sobre compraventa vehicular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754880" y="960120"/>
            <a:ext cx="4114800" cy="3886200"/>
          </a:xfrm>
          <a:prstGeom prst="roundRect">
            <a:avLst>
              <a:gd name="adj" fmla="val 2824"/>
            </a:avLst>
          </a:prstGeom>
          <a:solidFill>
            <a:srgbClr val="1E4D8C"/>
          </a:solidFill>
          <a:ln w="12700">
            <a:solidFill>
              <a:srgbClr val="1E4D8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937760" y="1051560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97316"/>
                </a:solidFill>
              </a:rPr>
              <a:t>➡️  Outbound Marketing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937760" y="1691640"/>
            <a:ext cx="3749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8D8F0"/>
                </a:solidFill>
              </a:rPr>
              <a:t>→  Google Ads (búsqueda y display)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937760" y="2221992"/>
            <a:ext cx="3749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8D8F0"/>
                </a:solidFill>
              </a:rPr>
              <a:t>→  Meta Ads (Facebook e Instagram)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937760" y="2752344"/>
            <a:ext cx="3749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8D8F0"/>
                </a:solidFill>
              </a:rPr>
              <a:t>→  TikTok Ads para público joven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937760" y="3282696"/>
            <a:ext cx="3749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8D8F0"/>
                </a:solidFill>
              </a:rPr>
              <a:t>→  Alianzas con influencers automotrices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937760" y="3813048"/>
            <a:ext cx="3749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8D8F0"/>
                </a:solidFill>
              </a:rPr>
              <a:t>→  SMS y WhatsApp masivo segmentado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937760" y="4343400"/>
            <a:ext cx="3749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8D8F0"/>
                </a:solidFill>
              </a:rPr>
              <a:t>→  Publicidad en marketplaces automotrices</a:t>
            </a:r>
            <a:endParaRPr lang="en-US" sz="1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228600" cy="822960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SEO – Posicionamiento Orgánico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274320" y="960120"/>
            <a:ext cx="4206240" cy="1920240"/>
          </a:xfrm>
          <a:prstGeom prst="roundRect">
            <a:avLst>
              <a:gd name="adj" fmla="val 4762"/>
            </a:avLst>
          </a:prstGeom>
          <a:solidFill>
            <a:srgbClr val="F8FAFF"/>
          </a:solidFill>
          <a:ln w="12700">
            <a:solidFill>
              <a:srgbClr val="DCE8F5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411480" y="105156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</a:rPr>
              <a:t>🔑  Palabras Clave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11480" y="1508760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</a:rPr>
              <a:t>•  inspección vehicular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11480" y="1764792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</a:rPr>
              <a:t>•  verificar auto usado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11480" y="2020824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</a:rPr>
              <a:t>•  checkauto ecuador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11480" y="2276856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</a:rPr>
              <a:t>•  comprar carro seguro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11480" y="2532888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</a:rPr>
              <a:t>•  revisión técnica vehicular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709160" y="960120"/>
            <a:ext cx="4206240" cy="1920240"/>
          </a:xfrm>
          <a:prstGeom prst="roundRect">
            <a:avLst>
              <a:gd name="adj" fmla="val 4762"/>
            </a:avLst>
          </a:prstGeom>
          <a:solidFill>
            <a:srgbClr val="F8FAFF"/>
          </a:solidFill>
          <a:ln w="12700">
            <a:solidFill>
              <a:srgbClr val="DCE8F5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846320" y="105156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</a:rPr>
              <a:t>📄  SEO On-Page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846320" y="1508760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</a:rPr>
              <a:t>•  Títulos H1/H2 optimizados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846320" y="1764792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</a:rPr>
              <a:t>•  Meta descripciones personalizadas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846320" y="2020824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</a:rPr>
              <a:t>•  URLs amigables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846320" y="2276856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</a:rPr>
              <a:t>•  Imágenes con alt text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846320" y="2532888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</a:rPr>
              <a:t>•  Velocidad de carga &lt;3 seg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274320" y="3063240"/>
            <a:ext cx="4206240" cy="1920240"/>
          </a:xfrm>
          <a:prstGeom prst="roundRect">
            <a:avLst>
              <a:gd name="adj" fmla="val 4762"/>
            </a:avLst>
          </a:prstGeom>
          <a:solidFill>
            <a:srgbClr val="F8FAFF"/>
          </a:solidFill>
          <a:ln w="12700">
            <a:solidFill>
              <a:srgbClr val="DCE8F5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11480" y="315468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</a:rPr>
              <a:t>🔗  SEO Off-Page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411480" y="3611880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</a:rPr>
              <a:t>•  Backlinks de talleres aliados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11480" y="3867912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</a:rPr>
              <a:t>•  Reseñas en Google My Business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11480" y="4123944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</a:rPr>
              <a:t>•  Presencia en directorios locales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11480" y="4379976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</a:rPr>
              <a:t>•  Guest posts en blogs automotrices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709160" y="3063240"/>
            <a:ext cx="4206240" cy="1920240"/>
          </a:xfrm>
          <a:prstGeom prst="roundRect">
            <a:avLst>
              <a:gd name="adj" fmla="val 4762"/>
            </a:avLst>
          </a:prstGeom>
          <a:solidFill>
            <a:srgbClr val="F8FAFF"/>
          </a:solidFill>
          <a:ln w="12700">
            <a:solidFill>
              <a:srgbClr val="DCE8F5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4846320" y="315468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</a:rPr>
              <a:t>📊  SEO Local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846320" y="3611880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</a:rPr>
              <a:t>•  Google My Business optimizado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846320" y="3867912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</a:rPr>
              <a:t>•  Citaciones locales (NAP)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4846320" y="4123944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</a:rPr>
              <a:t>•  Reviews y valoraciones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4846320" y="4379976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</a:rPr>
              <a:t>•  Mapa de ubicación en web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4846320" y="4636008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</a:rPr>
              <a:t>•  Palabras clave + ciudad</a:t>
            </a:r>
            <a:endParaRPr lang="en-US" sz="11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228600" cy="822960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Redes Sociales &amp; Objetivos SMART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274320" y="960120"/>
            <a:ext cx="859536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CE8F5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45720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</a:rPr>
              <a:t>Objetivos SMART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1417320"/>
            <a:ext cx="8229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</a:rPr>
              <a:t>S: Llegar a 10.000 seguidores en Instagram y TikTok en 6 meses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" y="1581912"/>
            <a:ext cx="8229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</a:rPr>
              <a:t>M: Generar 500 leads mensuales desde redes sociales al mes 3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1746504"/>
            <a:ext cx="8229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</a:rPr>
              <a:t>A: Publicar 5 contenidos semanales con equipo de 1 community manager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57200" y="1911096"/>
            <a:ext cx="8229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</a:rPr>
              <a:t>R: Aumentar tráfico web orgánico en 40% mediante contenido en RRSS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57200" y="2075688"/>
            <a:ext cx="8229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</a:rPr>
              <a:t>T: Alcanzar 200 inspecciones mensuales al cabo de 6 meses de lanzamiento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274320" y="2514600"/>
            <a:ext cx="1600200" cy="2286000"/>
          </a:xfrm>
          <a:prstGeom prst="roundRect">
            <a:avLst>
              <a:gd name="adj" fmla="val 5714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" y="2606040"/>
            <a:ext cx="1600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📸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274320" y="3218688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97316"/>
                </a:solidFill>
              </a:rPr>
              <a:t>Instagram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47472" y="3611880"/>
            <a:ext cx="14630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8D8F0"/>
                </a:solidFill>
              </a:rPr>
              <a:t>Fotos, Reels, Stories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C8D8F0"/>
                </a:solidFill>
              </a:rPr>
              <a:t>Marcas, casos de éxito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2011680" y="2514600"/>
            <a:ext cx="1600200" cy="2286000"/>
          </a:xfrm>
          <a:prstGeom prst="roundRect">
            <a:avLst>
              <a:gd name="adj" fmla="val 5714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2606040"/>
            <a:ext cx="1600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🎵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2011680" y="3218688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97316"/>
                </a:solidFill>
              </a:rPr>
              <a:t>TikTok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2084832" y="3611880"/>
            <a:ext cx="14630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8D8F0"/>
                </a:solidFill>
              </a:rPr>
              <a:t>Videos cortos virales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C8D8F0"/>
                </a:solidFill>
              </a:rPr>
              <a:t>Consejos en 60 seg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749040" y="2514600"/>
            <a:ext cx="1600200" cy="2286000"/>
          </a:xfrm>
          <a:prstGeom prst="roundRect">
            <a:avLst>
              <a:gd name="adj" fmla="val 5714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3749040" y="2606040"/>
            <a:ext cx="1600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📘</a:t>
            </a:r>
            <a:endParaRPr lang="en-US" sz="2600" dirty="0"/>
          </a:p>
        </p:txBody>
      </p:sp>
      <p:sp>
        <p:nvSpPr>
          <p:cNvPr id="22" name="Text 20"/>
          <p:cNvSpPr/>
          <p:nvPr/>
        </p:nvSpPr>
        <p:spPr>
          <a:xfrm>
            <a:off x="3749040" y="3218688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97316"/>
                </a:solidFill>
              </a:rPr>
              <a:t>Facebook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3822192" y="3611880"/>
            <a:ext cx="14630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8D8F0"/>
                </a:solidFill>
              </a:rPr>
              <a:t>Comunidad, ads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C8D8F0"/>
                </a:solidFill>
              </a:rPr>
              <a:t>Grupos automotrices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486400" y="2514600"/>
            <a:ext cx="1600200" cy="2286000"/>
          </a:xfrm>
          <a:prstGeom prst="roundRect">
            <a:avLst>
              <a:gd name="adj" fmla="val 5714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5486400" y="2606040"/>
            <a:ext cx="1600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💼</a:t>
            </a:r>
            <a:endParaRPr lang="en-US" sz="2600" dirty="0"/>
          </a:p>
        </p:txBody>
      </p:sp>
      <p:sp>
        <p:nvSpPr>
          <p:cNvPr id="26" name="Text 24"/>
          <p:cNvSpPr/>
          <p:nvPr/>
        </p:nvSpPr>
        <p:spPr>
          <a:xfrm>
            <a:off x="5486400" y="3218688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97316"/>
                </a:solidFill>
              </a:rPr>
              <a:t>LinkedIn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5559552" y="3611880"/>
            <a:ext cx="14630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8D8F0"/>
                </a:solidFill>
              </a:rPr>
              <a:t>B2B, alianzas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C8D8F0"/>
                </a:solidFill>
              </a:rPr>
              <a:t>Reputación corporativa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223760" y="2514600"/>
            <a:ext cx="1600200" cy="2286000"/>
          </a:xfrm>
          <a:prstGeom prst="roundRect">
            <a:avLst>
              <a:gd name="adj" fmla="val 5714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7223760" y="2606040"/>
            <a:ext cx="1600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▶️</a:t>
            </a:r>
            <a:endParaRPr lang="en-US" sz="2600" dirty="0"/>
          </a:p>
        </p:txBody>
      </p:sp>
      <p:sp>
        <p:nvSpPr>
          <p:cNvPr id="30" name="Text 28"/>
          <p:cNvSpPr/>
          <p:nvPr/>
        </p:nvSpPr>
        <p:spPr>
          <a:xfrm>
            <a:off x="7223760" y="3218688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97316"/>
                </a:solidFill>
              </a:rPr>
              <a:t>YouTube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7296912" y="3611880"/>
            <a:ext cx="14630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8D8F0"/>
                </a:solidFill>
              </a:rPr>
              <a:t>Tutoriales largos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C8D8F0"/>
                </a:solidFill>
              </a:rPr>
              <a:t>Webinars grabados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228600" cy="822960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Marketing de Contenidos &amp; Storytelling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274320" y="960120"/>
            <a:ext cx="5029200" cy="3886200"/>
          </a:xfrm>
          <a:prstGeom prst="roundRect">
            <a:avLst>
              <a:gd name="adj" fmla="val 2353"/>
            </a:avLst>
          </a:prstGeom>
          <a:solidFill>
            <a:srgbClr val="F8FAFF"/>
          </a:solidFill>
          <a:ln w="12700">
            <a:solidFill>
              <a:srgbClr val="DCE8F5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457200" y="1051560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</a:rPr>
              <a:t>📝  Tipos de Contenido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1554480"/>
            <a:ext cx="4663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</a:rPr>
              <a:t>🎥  Videos educativos: '5 cosas que revisar antes de comprar un auto'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457200" y="2011680"/>
            <a:ext cx="4663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</a:rPr>
              <a:t>📊  Infografías: 'Los defectos más comunes en autos usados'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457200" y="2468880"/>
            <a:ext cx="4663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</a:rPr>
              <a:t>📖  Blog: 'Guía completa para comprar tu primer vehículo usado'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457200" y="2926080"/>
            <a:ext cx="4663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</a:rPr>
              <a:t>💬  Testimonios de clientes satisfechos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457200" y="3383280"/>
            <a:ext cx="4663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</a:rPr>
              <a:t>🔴  Lives con mecánicos respondiendo preguntas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457200" y="3840480"/>
            <a:ext cx="4663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</a:rPr>
              <a:t>📲  Stories interactivos con encuestas y Q&amp;A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457200" y="4297680"/>
            <a:ext cx="4663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</a:rPr>
              <a:t>🎯  Casos de éxito: 'CheckAuto me salvó de una mala compra'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577840" y="960120"/>
            <a:ext cx="3291840" cy="3886200"/>
          </a:xfrm>
          <a:prstGeom prst="roundRect">
            <a:avLst>
              <a:gd name="adj" fmla="val 2778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5760720" y="1051560"/>
            <a:ext cx="29260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97316"/>
                </a:solidFill>
              </a:rPr>
              <a:t>💡  Storytelling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F97316"/>
                </a:solidFill>
              </a:rPr>
              <a:t>CheckAuto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852160" y="1828800"/>
            <a:ext cx="320040" cy="320040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852160" y="182880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263640" y="182880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8D8F0"/>
                </a:solidFill>
              </a:rPr>
              <a:t>Protagonista: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8D8F0"/>
                </a:solidFill>
              </a:rPr>
              <a:t>El comprador nervioso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852160" y="2377440"/>
            <a:ext cx="320040" cy="320040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852160" y="237744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2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263640" y="237744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8D8F0"/>
                </a:solidFill>
              </a:rPr>
              <a:t>Problema: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8D8F0"/>
                </a:solidFill>
              </a:rPr>
              <a:t>Miedo a ser estafado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852160" y="2926080"/>
            <a:ext cx="320040" cy="320040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852160" y="292608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3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263640" y="292608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8D8F0"/>
                </a:solidFill>
              </a:rPr>
              <a:t>Guía: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8D8F0"/>
                </a:solidFill>
              </a:rPr>
              <a:t>CheckAuto aparece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5852160" y="3474720"/>
            <a:ext cx="320040" cy="320040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852160" y="34747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4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263640" y="347472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8D8F0"/>
                </a:solidFill>
              </a:rPr>
              <a:t>Plan: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8D8F0"/>
                </a:solidFill>
              </a:rPr>
              <a:t>Inspección certificada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5852160" y="4023360"/>
            <a:ext cx="320040" cy="320040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852160" y="402336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5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263640" y="402336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8D8F0"/>
                </a:solidFill>
              </a:rPr>
              <a:t>Resolución: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8D8F0"/>
                </a:solidFill>
              </a:rPr>
              <a:t>Compra con confianza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228600" cy="822960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Parrilla de Contenidos – Semana Tipo</a:t>
            </a:r>
            <a:endParaRPr lang="en-US" sz="24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005840"/>
          <a:ext cx="859536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280160"/>
                <a:gridCol w="1097280"/>
                <a:gridCol w="3474720"/>
                <a:gridCol w="1645920"/>
              </a:tblGrid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Día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Red Social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Formato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Tema / Contenido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Objetivo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</a:rPr>
                        <a:t>Lunes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</a:rPr>
                        <a:t>Instagram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</a:rPr>
                        <a:t>Carrusel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</a:rPr>
                        <a:t>'5 señales de que un auto tiene problemas'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</a:rPr>
                        <a:t>Educación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</a:rPr>
                        <a:t>Martes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</a:rPr>
                        <a:t>TikTok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</a:rPr>
                        <a:t>Video 60s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</a:rPr>
                        <a:t>Inspector revisando motor en tiempo real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</a:rPr>
                        <a:t>Confianza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</a:rPr>
                        <a:t>Miércoles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</a:rPr>
                        <a:t>Facebook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</a:rPr>
                        <a:t>Post + Link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</a:rPr>
                        <a:t>Blog: Cómo verificar el historial de un auto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</a:rPr>
                        <a:t>Tráfico web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</a:rPr>
                        <a:t>Jueves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</a:rPr>
                        <a:t>Instagram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</a:rPr>
                        <a:t>Story encuesta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</a:rPr>
                        <a:t>¿Revisarías tu auto antes de comprarlo?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</a:rPr>
                        <a:t>Interacción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</a:rPr>
                        <a:t>Viernes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</a:rPr>
                        <a:t>YouTube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</a:rPr>
                        <a:t>Video largo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</a:rPr>
                        <a:t>Webinar: Todo sobre inspección vehicular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</a:rPr>
                        <a:t>Autoridad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</a:rPr>
                        <a:t>Sábado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</a:rPr>
                        <a:t>TikTok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</a:rPr>
                        <a:t>Video viral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</a:rPr>
                        <a:t>Testimonio cliente: 'CheckAuto me salvó'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</a:rPr>
                        <a:t>Social proof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</a:rPr>
                        <a:t>Domingo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</a:rPr>
                        <a:t>Instagram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</a:rPr>
                        <a:t>Reel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</a:rPr>
                        <a:t>Detrás de cámaras del taller CheckAuto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</a:rPr>
                        <a:t>Humanización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228600" cy="822960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Aliados Estratégicos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274320" y="1005840"/>
            <a:ext cx="2788920" cy="1874520"/>
          </a:xfrm>
          <a:prstGeom prst="roundRect">
            <a:avLst>
              <a:gd name="adj" fmla="val 4878"/>
            </a:avLst>
          </a:prstGeom>
          <a:solidFill>
            <a:srgbClr val="F8FAFF"/>
          </a:solidFill>
          <a:ln w="12700">
            <a:solidFill>
              <a:srgbClr val="DCE8F5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274320" y="1078992"/>
            <a:ext cx="2788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🏪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600200"/>
            <a:ext cx="2788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A6B"/>
                </a:solidFill>
              </a:rPr>
              <a:t>Concesionarios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84048" y="1965960"/>
            <a:ext cx="257860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Alianzas con dealers de autos usados para ofrecer CheckAuto como valor agregado en cada venta.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46120" y="1005840"/>
            <a:ext cx="2788920" cy="1874520"/>
          </a:xfrm>
          <a:prstGeom prst="roundRect">
            <a:avLst>
              <a:gd name="adj" fmla="val 4878"/>
            </a:avLst>
          </a:prstGeom>
          <a:solidFill>
            <a:srgbClr val="F8FAFF"/>
          </a:solidFill>
          <a:ln w="12700">
            <a:solidFill>
              <a:srgbClr val="DCE8F5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3246120" y="1078992"/>
            <a:ext cx="2788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🔧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3246120" y="1600200"/>
            <a:ext cx="2788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A6B"/>
                </a:solidFill>
              </a:rPr>
              <a:t>Talleres Certificados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355848" y="1965960"/>
            <a:ext cx="257860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Red de mecánicos y talleres autorizados para realizar inspecciones bajo estándares CheckAuto.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217920" y="1005840"/>
            <a:ext cx="2788920" cy="1874520"/>
          </a:xfrm>
          <a:prstGeom prst="roundRect">
            <a:avLst>
              <a:gd name="adj" fmla="val 4878"/>
            </a:avLst>
          </a:prstGeom>
          <a:solidFill>
            <a:srgbClr val="F8FAFF"/>
          </a:solidFill>
          <a:ln w="12700">
            <a:solidFill>
              <a:srgbClr val="DCE8F5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217920" y="1078992"/>
            <a:ext cx="2788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📱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6217920" y="1600200"/>
            <a:ext cx="2788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A6B"/>
                </a:solidFill>
              </a:rPr>
              <a:t>Influencers Automotrices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327648" y="1965960"/>
            <a:ext cx="257860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Creadores de contenido con audiencias de 50K+ enfocados en autos, mecánica y lifestyle.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274320" y="3063240"/>
            <a:ext cx="2788920" cy="1874520"/>
          </a:xfrm>
          <a:prstGeom prst="roundRect">
            <a:avLst>
              <a:gd name="adj" fmla="val 4878"/>
            </a:avLst>
          </a:prstGeom>
          <a:solidFill>
            <a:srgbClr val="F8FAFF"/>
          </a:solidFill>
          <a:ln w="12700">
            <a:solidFill>
              <a:srgbClr val="DCE8F5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274320" y="3136392"/>
            <a:ext cx="2788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🏛️</a:t>
            </a:r>
            <a:endParaRPr lang="en-US" sz="2600" dirty="0"/>
          </a:p>
        </p:txBody>
      </p:sp>
      <p:sp>
        <p:nvSpPr>
          <p:cNvPr id="19" name="Text 17"/>
          <p:cNvSpPr/>
          <p:nvPr/>
        </p:nvSpPr>
        <p:spPr>
          <a:xfrm>
            <a:off x="274320" y="3657600"/>
            <a:ext cx="2788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A6B"/>
                </a:solidFill>
              </a:rPr>
              <a:t>Entidades Financieras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384048" y="4023360"/>
            <a:ext cx="257860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Bancos y cooperativas que financian vehículos pueden requerir inspección CheckAuto.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3246120" y="3063240"/>
            <a:ext cx="2788920" cy="1874520"/>
          </a:xfrm>
          <a:prstGeom prst="roundRect">
            <a:avLst>
              <a:gd name="adj" fmla="val 4878"/>
            </a:avLst>
          </a:prstGeom>
          <a:solidFill>
            <a:srgbClr val="F8FAFF"/>
          </a:solidFill>
          <a:ln w="12700">
            <a:solidFill>
              <a:srgbClr val="DCE8F5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3246120" y="3136392"/>
            <a:ext cx="2788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🌐</a:t>
            </a:r>
            <a:endParaRPr lang="en-US" sz="2600" dirty="0"/>
          </a:p>
        </p:txBody>
      </p:sp>
      <p:sp>
        <p:nvSpPr>
          <p:cNvPr id="23" name="Text 21"/>
          <p:cNvSpPr/>
          <p:nvPr/>
        </p:nvSpPr>
        <p:spPr>
          <a:xfrm>
            <a:off x="3246120" y="3657600"/>
            <a:ext cx="2788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A6B"/>
                </a:solidFill>
              </a:rPr>
              <a:t>Marketplaces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3355848" y="4023360"/>
            <a:ext cx="257860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OLX, Patiotuerca, MercadoLibre: integración de sello CheckAuto Verificado en anuncios.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217920" y="3063240"/>
            <a:ext cx="2788920" cy="1874520"/>
          </a:xfrm>
          <a:prstGeom prst="roundRect">
            <a:avLst>
              <a:gd name="adj" fmla="val 4878"/>
            </a:avLst>
          </a:prstGeom>
          <a:solidFill>
            <a:srgbClr val="F8FAFF"/>
          </a:solidFill>
          <a:ln w="12700">
            <a:solidFill>
              <a:srgbClr val="DCE8F5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217920" y="3136392"/>
            <a:ext cx="2788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🎓</a:t>
            </a:r>
            <a:endParaRPr lang="en-US" sz="2600" dirty="0"/>
          </a:p>
        </p:txBody>
      </p:sp>
      <p:sp>
        <p:nvSpPr>
          <p:cNvPr id="27" name="Text 25"/>
          <p:cNvSpPr/>
          <p:nvPr/>
        </p:nvSpPr>
        <p:spPr>
          <a:xfrm>
            <a:off x="6217920" y="3657600"/>
            <a:ext cx="2788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A6B"/>
                </a:solidFill>
              </a:rPr>
              <a:t>Institutos Técnicos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327648" y="4023360"/>
            <a:ext cx="257860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Convenios con universidades y centros de formación para captación de inspectores certificados.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CheckAuto - Presentación de Marca</dc:title>
  <dc:subject>PptxGenJS Presentation</dc:subject>
  <dc:creator>PptxGenJS</dc:creator>
  <cp:lastModifiedBy>PptxGenJS</cp:lastModifiedBy>
  <cp:revision>1</cp:revision>
  <dcterms:created xsi:type="dcterms:W3CDTF">2026-07-03T18:10:31Z</dcterms:created>
  <dcterms:modified xsi:type="dcterms:W3CDTF">2026-07-03T18:10:31Z</dcterms:modified>
</cp:coreProperties>
</file>