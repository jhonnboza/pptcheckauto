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bubble3D val="0"/>
            <c:spPr>
              <a:solidFill>
                <a:srgbClr val="1E4D8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68</c:v>
                </c:pt>
                <c:pt idx="1">
                  <c:v>32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bubble3D val="0"/>
            <c:spPr>
              <a:solidFill>
                <a:srgbClr val="7CB9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Tal vez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34</c:v>
                </c:pt>
                <c:pt idx="1">
                  <c:v>51</c:v>
                </c:pt>
                <c:pt idx="2">
                  <c:v>15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CB9E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8C5E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Muy importante</c:v>
                  </c:pt>
                  <c:pt idx="1">
                    <c:v>Importante</c:v>
                  </c:pt>
                  <c:pt idx="2">
                    <c:v>Poco importante</c:v>
                  </c:pt>
                  <c:pt idx="3">
                    <c:v>Nada importante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28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6A07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Menos de $20</c:v>
                  </c:pt>
                  <c:pt idx="1">
                    <c:v>$20 - $40</c:v>
                  </c:pt>
                  <c:pt idx="2">
                    <c:v>$40 - $70</c:v>
                  </c:pt>
                  <c:pt idx="3">
                    <c:v>Más de $70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38</c:v>
                </c:pt>
                <c:pt idx="2">
                  <c:v>36</c:v>
                </c:pt>
                <c:pt idx="3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B9E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Defectos ocultos</c:v>
                  </c:pt>
                  <c:pt idx="1">
                    <c:v>Historial falso</c:v>
                  </c:pt>
                  <c:pt idx="2">
                    <c:v>Precio inflado</c:v>
                  </c:pt>
                  <c:pt idx="3">
                    <c:v>Ningún problema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29</c:v>
                </c:pt>
                <c:pt idx="2">
                  <c:v>17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bubble3D val="0"/>
            <c:spPr>
              <a:solidFill>
                <a:srgbClr val="1E4D8C"/>
              </a:solidFill>
              <a:effectLst/>
            </c:spPr>
          </c:dPt>
          <c:dPt>
            <c:idx val="3"/>
            <c:bubble3D val="0"/>
            <c:spPr>
              <a:solidFill>
                <a:srgbClr val="7CB9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App móvil</c:v>
                </c:pt>
                <c:pt idx="1">
                  <c:v>WhatsApp</c:v>
                </c:pt>
                <c:pt idx="2">
                  <c:v>Sitio web</c:v>
                </c:pt>
                <c:pt idx="3">
                  <c:v>Llamada telefónica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41</c:v>
                </c:pt>
                <c:pt idx="1">
                  <c:v>33</c:v>
                </c:pt>
                <c:pt idx="2">
                  <c:v>20</c:v>
                </c:pt>
                <c:pt idx="3">
                  <c:v>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B9E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Cada 6 meses</c:v>
                  </c:pt>
                  <c:pt idx="1">
                    <c:v>Una vez al año</c:v>
                  </c:pt>
                  <c:pt idx="2">
                    <c:v>Cada 2 años</c:v>
                  </c:pt>
                  <c:pt idx="3">
                    <c:v>Raramente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35</c:v>
                </c:pt>
                <c:pt idx="2">
                  <c:v>30</c:v>
                </c:pt>
                <c:pt idx="3">
                  <c:v>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1E4D8C"/>
              </a:solidFill>
              <a:effectLst/>
            </c:spPr>
          </c:dPt>
          <c:dPt>
            <c:idx val="2"/>
            <c:bubble3D val="0"/>
            <c:spPr>
              <a:solidFill>
                <a:srgbClr val="7CB9E8"/>
              </a:solidFill>
              <a:effectLst/>
            </c:spPr>
          </c:dPt>
          <c:dPt>
            <c:idx val="3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Definitivamente sí</c:v>
                </c:pt>
                <c:pt idx="1">
                  <c:v>Probablemente sí</c:v>
                </c:pt>
                <c:pt idx="2">
                  <c:v>Probablemente no</c:v>
                </c:pt>
                <c:pt idx="3">
                  <c:v>No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38</c:v>
                </c:pt>
                <c:pt idx="2">
                  <c:v>12</c:v>
                </c:pt>
                <c:pt idx="3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4D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CB9E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Reporte fotográfico</c:v>
                  </c:pt>
                  <c:pt idx="1">
                    <c:v>Diagnóstico mecánico</c:v>
                  </c:pt>
                  <c:pt idx="2">
                    <c:v>Historial vehicular</c:v>
                  </c:pt>
                  <c:pt idx="3">
                    <c:v>Asesoría legal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41</c:v>
                </c:pt>
                <c:pt idx="2">
                  <c:v>19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Respuestas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97316"/>
              </a:solidFill>
              <a:effectLst/>
            </c:spPr>
          </c:dPt>
          <c:dPt>
            <c:idx val="1"/>
            <c:bubble3D val="0"/>
            <c:spPr>
              <a:solidFill>
                <a:srgbClr val="1B3A6B"/>
              </a:solidFill>
              <a:effectLst/>
            </c:spPr>
          </c:dPt>
          <c:dPt>
            <c:idx val="2"/>
            <c:bubble3D val="0"/>
            <c:spPr>
              <a:solidFill>
                <a:srgbClr val="7CB9E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1E293B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Definitivamente sí</c:v>
                </c:pt>
                <c:pt idx="1">
                  <c:v>Probablemente sí</c:v>
                </c:pt>
                <c:pt idx="2">
                  <c:v>No estoy seguro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71</c:v>
                </c:pt>
                <c:pt idx="1">
                  <c:v>22</c:v>
                </c:pt>
                <c:pt idx="2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3657600" cy="3657600"/>
          </a:xfrm>
          <a:prstGeom prst="rect">
            <a:avLst/>
          </a:prstGeom>
          <a:solidFill>
            <a:srgbClr val="F97316">
              <a:alpha val="15000"/>
            </a:srgbClr>
          </a:solidFill>
          <a:ln w="12700">
            <a:solidFill>
              <a:srgbClr val="F97316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457200"/>
            <a:ext cx="1371600" cy="1371600"/>
          </a:xfrm>
          <a:prstGeom prst="ellipse">
            <a:avLst/>
          </a:prstGeom>
          <a:solidFill>
            <a:srgbClr val="F97316"/>
          </a:solidFill>
          <a:ln w="25400">
            <a:solidFill>
              <a:srgbClr val="EA6A0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103120" y="5486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spc="200" kern="0" dirty="0">
                <a:solidFill>
                  <a:srgbClr val="FFFFFF"/>
                </a:solidFill>
              </a:rPr>
              <a:t>CheckAuto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103120" y="1508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F97316"/>
                </a:solidFill>
              </a:rPr>
              <a:t>Inspecciona. Verifica. Confía.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8046720" cy="36576"/>
          </a:xfrm>
          <a:prstGeom prst="rect">
            <a:avLst/>
          </a:prstGeom>
          <a:solidFill>
            <a:srgbClr val="F97316">
              <a:alpha val="70000"/>
            </a:srgbClr>
          </a:solidFill>
          <a:ln w="12700">
            <a:solidFill>
              <a:srgbClr val="F97316">
                <a:alpha val="7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688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8D8F0"/>
                </a:solidFill>
              </a:rPr>
              <a:t>Plataforma de inspección y verificación automotriz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C8D8F0"/>
                </a:solidFill>
              </a:rPr>
              <a:t>Tu aliado para comprar y vender con seguridad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7A9CC8"/>
                </a:solidFill>
              </a:rPr>
              <a:t>INVESTIGACIÓN DE MERCADO &amp; PLAN DE MARKETING DIGITAL  |  2024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Misión, Visión y Valores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3749040"/>
          </a:xfrm>
          <a:prstGeom prst="roundRect">
            <a:avLst>
              <a:gd name="adj" fmla="val 3871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97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Misión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97280" y="2331720"/>
            <a:ext cx="11887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468880"/>
            <a:ext cx="2560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E6FF"/>
                </a:solidFill>
              </a:rPr>
              <a:t>Brindar a compradores y vendedores de vehículos una plataforma confiable de inspección técnica y verificación automotriz, garantizando transparencia y seguridad en cada transacción.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05840"/>
            <a:ext cx="2834640" cy="3749040"/>
          </a:xfrm>
          <a:prstGeom prst="roundRect">
            <a:avLst>
              <a:gd name="adj" fmla="val 3871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46120" y="1097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🔭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46120" y="1783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Visión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069080" y="2331720"/>
            <a:ext cx="11887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2468880"/>
            <a:ext cx="2560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E6FF"/>
                </a:solidFill>
              </a:rPr>
              <a:t>Ser la plataforma líder de verificación automotriz en América Latina al 2028, transformando el mercado de compraventa de vehículos usados en un ecosistema de confianza.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005840"/>
            <a:ext cx="2834640" cy="3749040"/>
          </a:xfrm>
          <a:prstGeom prst="roundRect">
            <a:avLst>
              <a:gd name="adj" fmla="val 3871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17920" y="1097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⭐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17920" y="1783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Valores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040880" y="2331720"/>
            <a:ext cx="11887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2468880"/>
            <a:ext cx="25603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E6FF"/>
                </a:solidFill>
              </a:rPr>
              <a:t>Transparencia · Confianza · Innovación · Responsabilidad · Excelencia · Compromiso con el cliente · Integridad técnica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Descripción del Producto / Servicio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972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</a:rPr>
              <a:t>¿Qué es CheckAuto?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CheckAuto es una plataforma digital y presencial de inspección y verificación automotriz que conecta a compradores y vendedores de vehículos usados con técnicos certificados.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Nuestro servicio incluye: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Inspección técnica de 120 puntos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Verificación de historial vehicular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Reporte digital detallado en 24h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Garantía de transparencia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• Asesoría personalizada pre y post venta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0" y="1051560"/>
            <a:ext cx="1554480" cy="1645920"/>
          </a:xfrm>
          <a:prstGeom prst="roundRect">
            <a:avLst>
              <a:gd name="adj" fmla="val 588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0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0" y="182880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Inspección Técnica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78040" y="1051560"/>
            <a:ext cx="1554480" cy="1645920"/>
          </a:xfrm>
          <a:prstGeom prst="roundRect">
            <a:avLst>
              <a:gd name="adj" fmla="val 588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78040" y="1188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📄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7178040" y="182880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Historial Vehicular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0" y="2971800"/>
            <a:ext cx="1554480" cy="1645920"/>
          </a:xfrm>
          <a:prstGeom prst="roundRect">
            <a:avLst>
              <a:gd name="adj" fmla="val 588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0" y="3108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5486400" y="374904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Reporte Digital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78040" y="2971800"/>
            <a:ext cx="1554480" cy="1645920"/>
          </a:xfrm>
          <a:prstGeom prst="roundRect">
            <a:avLst>
              <a:gd name="adj" fmla="val 5882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178040" y="3108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178040" y="3749040"/>
            <a:ext cx="1554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Garantía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Propuesta de Valor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CheckAuto te da la certeza que necesitas antes de comprar o vender un vehículo.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74320" y="2103120"/>
            <a:ext cx="2011680" cy="2743200"/>
          </a:xfrm>
          <a:prstGeom prst="roundRect">
            <a:avLst>
              <a:gd name="adj" fmla="val 4545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✅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74320" y="2880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Confianza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319272"/>
            <a:ext cx="7315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42900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Informes certificados por técnicos especializados con más de 5 años de experiencia.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50592" y="2103120"/>
            <a:ext cx="2011680" cy="2743200"/>
          </a:xfrm>
          <a:prstGeom prst="roundRect">
            <a:avLst>
              <a:gd name="adj" fmla="val 4545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50592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450592" y="2880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Rapidez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090672" y="3319272"/>
            <a:ext cx="7315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42032" y="342900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Resultados en menos de 24 horas directamente en tu dispositivo.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26864" y="2103120"/>
            <a:ext cx="2011680" cy="2743200"/>
          </a:xfrm>
          <a:prstGeom prst="roundRect">
            <a:avLst>
              <a:gd name="adj" fmla="val 4545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26864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💰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626864" y="2880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Ahorro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66944" y="3319272"/>
            <a:ext cx="7315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18304" y="342900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Evita compras costosas con defectos ocultos. Ahorra hasta el 30% en reparaciones.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03136" y="2103120"/>
            <a:ext cx="2011680" cy="2743200"/>
          </a:xfrm>
          <a:prstGeom prst="roundRect">
            <a:avLst>
              <a:gd name="adj" fmla="val 4545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03136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📍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803136" y="2880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Accesibilidad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43216" y="3319272"/>
            <a:ext cx="73152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94576" y="3429000"/>
            <a:ext cx="18288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Disponible en toda la ciudad. Agendamiento en línea o inspección a domicilio.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Canales de Distribución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886200"/>
          </a:xfrm>
          <a:prstGeom prst="roundRect">
            <a:avLst>
              <a:gd name="adj" fmla="val 282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51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🏪  Canales Físicos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Centro de inspección propio (taller autorizado)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Inspecciones a domicilio (mecánico móvil)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Alianzas con talleres y concesionarios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Ferias automotrices y eventos de vehículos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0690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Puntos de atención en centros comerciales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4114800" cy="3886200"/>
          </a:xfrm>
          <a:prstGeom prst="roundRect">
            <a:avLst>
              <a:gd name="adj" fmla="val 2824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1051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</a:rPr>
              <a:t>💻  Canales Digitales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6916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Sitio web con agendamiento en línea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2199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App móvil iOS y Android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75234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WhatsApp Business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28269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Redes sociales (Instagram, TikTok, Facebook)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81304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E-commerce de reportes y servicios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43434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Marketplace automotriz (OLX, Patiotuerca)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Justificación del Precio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560320" cy="3657600"/>
          </a:xfrm>
          <a:prstGeom prst="roundRect">
            <a:avLst>
              <a:gd name="adj" fmla="val 4286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BÁSICO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$29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por inspección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926080"/>
            <a:ext cx="16459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017520"/>
            <a:ext cx="2286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Inspección de 60 puntos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Reporte digital básico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Verificación de documentos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Válido 15 días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914400"/>
            <a:ext cx="2560320" cy="4023360"/>
          </a:xfrm>
          <a:prstGeom prst="roundRect">
            <a:avLst>
              <a:gd name="adj" fmla="val 428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960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MÁS POPULAR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PRO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9184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$59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3291840" y="2560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por inspección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749040" y="2880360"/>
            <a:ext cx="16459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2971800"/>
            <a:ext cx="2286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Inspección de 120 puntos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Reporte detallado con fotos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Historial completo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Asesoría incluida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Válido 30 días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1097280"/>
            <a:ext cx="2560320" cy="3657600"/>
          </a:xfrm>
          <a:prstGeom prst="roundRect">
            <a:avLst>
              <a:gd name="adj" fmla="val 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126480" y="1371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FFFFF"/>
                </a:solidFill>
              </a:rPr>
              <a:t>PREMIUM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$99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126480" y="2606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por inspección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83680" y="2926080"/>
            <a:ext cx="1645920" cy="27432"/>
          </a:xfrm>
          <a:prstGeom prst="rect">
            <a:avLst/>
          </a:prstGeom>
          <a:solidFill>
            <a:srgbClr val="FFFFFF">
              <a:alpha val="50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3017520"/>
            <a:ext cx="2286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Todo lo del plan Pro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Inspección mecánica avanzada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Diagnóstico electrónico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Garantía de 3 meses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Soporte prioritario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1. ¿Ha comprado o vendido un vehículo usado en los últimos 2 años?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2. ¿Conoce algún servicio de inspección vehicular independiente?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3. ¿Qué tan importante considera la inspección técnica antes de comprar un vehículo usado?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4. ¿Cuánto estaría dispuesto a pagar por una inspección vehicular confiable?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5. ¿Qué problema ha tenido al comprar un vehículo usado?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6. ¿A través de qué medio preferiría agendar una inspección?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7. ¿Con qué frecuencia realiza transacciones de vehículos usados?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8. ¿Utilizaría una plataforma digital de verificación automotriz?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9. ¿Cuál de estos servicios le parece más valioso en una inspección?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Encuesta de Investigación de Mercado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960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10. ¿Recomendaría CheckAuto si el servicio cumple sus expectativas?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828800"/>
          <a:ext cx="8229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Resumen de Principales Hallazgos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9728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68%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11480" y="182880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ha realizado compraventa de vehículos usados en los últimos 2 años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0584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09728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83%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383280" y="182880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utilizaría una plataforma digital de verificación automotriz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00584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0" y="109728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74%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355080" y="182880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pagaría entre $40 y más de $70 por una inspección confiable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4320" y="306324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48%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11480" y="37947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ha sufrido problemas de defectos ocultos al comprar un vehículo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46120" y="29718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46120" y="306324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93%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3383280" y="37947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considera importante o muy importante la inspección técnica previa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2971800"/>
            <a:ext cx="2788920" cy="1783080"/>
          </a:xfrm>
          <a:prstGeom prst="roundRect">
            <a:avLst>
              <a:gd name="adj" fmla="val 5128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17920" y="3063240"/>
            <a:ext cx="2788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71%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355080" y="379476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E6FF"/>
                </a:solidFill>
              </a:rPr>
              <a:t>recomendaría CheckAuto si cumple sus expectativas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Entrevista 1 de 3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011680" cy="2011680"/>
          </a:xfrm>
          <a:prstGeom prst="ellipse">
            <a:avLst/>
          </a:prstGeom>
          <a:solidFill>
            <a:srgbClr val="1E4D8C"/>
          </a:solidFill>
          <a:ln w="381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0584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👤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2560320" y="10515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6B"/>
                </a:solidFill>
              </a:rPr>
              <a:t>Carlos Mendoza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560320" y="16002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34 años  |  Vendedor de vehículos independiente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0" y="2057400"/>
            <a:ext cx="594360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063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Foto 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Entrevistado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41148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331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✅  Insights Positivos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7889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Le parece excelente la idea de un servicio certificado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4290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Cree que aumentaría la confianza de sus compradores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Está dispuesto a aliarse con CheckAuto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240280"/>
            <a:ext cx="41148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37760" y="2331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⚠️  Insights Negativos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7889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Teme que un informe negativo afecte sus ventas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34290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Preferiría que el proceso sea rápido (menos de 2 horas)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4069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Duda del precio si el reporte no trae fotos detalladas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Entrevista 2 de 3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011680" cy="2011680"/>
          </a:xfrm>
          <a:prstGeom prst="ellipse">
            <a:avLst/>
          </a:prstGeom>
          <a:solidFill>
            <a:srgbClr val="1E4D8C"/>
          </a:solidFill>
          <a:ln w="381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0584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👤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2560320" y="10515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6B"/>
                </a:solidFill>
              </a:rPr>
              <a:t>María Fernanda López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560320" y="16002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28 años  |  Compradora de primer vehículo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0" y="2057400"/>
            <a:ext cx="594360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063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Foto 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Entrevistado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41148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331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✅  Insights Positivos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7889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Le da mucha seguridad saber que el auto fue revisado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4290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Valora el reporte digital accesible desde su celular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Le gusta la opción de inspección a domicilio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240280"/>
            <a:ext cx="41148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37760" y="2331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⚠️  Insights Negativos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7889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No conocía ningún servicio similar antes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34290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Le gustaría un plan más económico para estudiantes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4069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Preferiría pagar en cuotas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Entrevista 3 de 3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011680" cy="2011680"/>
          </a:xfrm>
          <a:prstGeom prst="ellipse">
            <a:avLst/>
          </a:prstGeom>
          <a:solidFill>
            <a:srgbClr val="1E4D8C"/>
          </a:solidFill>
          <a:ln w="381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0584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👤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2560320" y="10515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6B"/>
                </a:solidFill>
              </a:rPr>
              <a:t>Roberto Jiménez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560320" y="16002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45 años  |  Propietario de taller mecánico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60320" y="2057400"/>
            <a:ext cx="594360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063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Foto del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Entrevistado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41148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2331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</a:rPr>
              <a:t>✅  Insights Positivos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7889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Ve oportunidad de aliarse como taller certificado CheckAuto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4290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Apoya la estandarización de los diagnósticos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Cree que el mercado necesita este servicio urgentemente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240280"/>
            <a:ext cx="41148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937760" y="2331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⚠️  Insights Negativos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7889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Preocupa la competencia si CheckAuto tiene talleres propios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34290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Exige capacitación adecuada del personal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0" y="4069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Quiere claridad en los estándares de inspección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Focus Group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EBF2FC"/>
          </a:solidFill>
          <a:ln w="254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60120"/>
            <a:ext cx="39319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1E4D8C"/>
                </a:solidFill>
              </a:rPr>
              <a:t>📸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i="1" dirty="0">
                <a:solidFill>
                  <a:srgbClr val="1E4D8C"/>
                </a:solidFill>
              </a:rPr>
              <a:t>Foto del Focus Group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74320" y="35661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8 participantes · Duración 90 min · Modalidad presencial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80560" y="960120"/>
            <a:ext cx="4389120" cy="1417320"/>
          </a:xfrm>
          <a:prstGeom prst="roundRect">
            <a:avLst>
              <a:gd name="adj" fmla="val 6452"/>
            </a:avLst>
          </a:prstGeom>
          <a:solidFill>
            <a:srgbClr val="F8FAFF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0241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✅  Insights Positivos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435608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 Alta receptividad al servicio de inspección
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 Disposición a pagar por tranquilidad
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  Preferencia por reportes digitales con fotos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514600"/>
            <a:ext cx="4389120" cy="1417320"/>
          </a:xfrm>
          <a:prstGeom prst="roundRect">
            <a:avLst>
              <a:gd name="adj" fmla="val 6452"/>
            </a:avLst>
          </a:prstGeom>
          <a:solidFill>
            <a:srgbClr val="F8FAFF"/>
          </a:solidFill>
          <a:ln w="127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25786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⚠️  Insights Negativos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2990088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 Desconfianza en la imparcialidad del inspector
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 Preocupación por tiempos de espera
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-  Falta de claridad en qué incluye cada plan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3977640"/>
            <a:ext cx="8595360" cy="868680"/>
          </a:xfrm>
          <a:prstGeom prst="roundRect">
            <a:avLst>
              <a:gd name="adj" fmla="val 10526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Conclusión: El mercado muestra alta necesidad y receptividad. La clave diferenciadora es la transparencia y la rapidez del servicio.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Marketing Digital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3886200"/>
          </a:xfrm>
          <a:prstGeom prst="roundRect">
            <a:avLst>
              <a:gd name="adj" fmla="val 282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51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</a:rPr>
              <a:t>⬅️  Inbound Marketing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Blog de consejos automotrices (SEO)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Videos educativos en YouTube y TikTok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Guías descargables: 'Cómo comprar auto seguro'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Email marketing con tips y ofertas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0690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Webinars sobre compraventa vehicular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4114800" cy="3886200"/>
          </a:xfrm>
          <a:prstGeom prst="roundRect">
            <a:avLst>
              <a:gd name="adj" fmla="val 2824"/>
            </a:avLst>
          </a:prstGeom>
          <a:solidFill>
            <a:srgbClr val="1E4D8C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10515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</a:rPr>
              <a:t>➡️  Outbound Marketing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37760" y="16916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Google Ads (búsqueda y display)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2199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Meta Ads (Facebook e Instagram)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75234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TikTok Ads para público joven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28269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Alianzas con influencers automotrices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81304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SMS y WhatsApp masivo segmentado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43434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8F0"/>
                </a:solidFill>
              </a:rPr>
              <a:t>→  Publicidad en marketplaces automotrices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SEO – Posicionamiento Orgánico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0515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🔑  Palabras Clave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087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inspección vehicular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76479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verificar auto usado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02082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checkauto ecuador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27685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comprar carro seguro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328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revisión técnica vehicular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0515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📄  SEO On-Page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Títulos H1/H2 optimizados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76479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Meta descripciones personalizadas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202082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URLs amigables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27685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Imágenes con alt text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25328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Velocidad de carga &lt;3 seg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6324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11480" y="3154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🔗  SEO Off-Page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36118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Backlinks de talleres aliados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386791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Reseñas en Google My Business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412394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Presencia en directorios locales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4379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Guest posts en blogs automotrices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06324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46320" y="3154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📊  SEO Local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846320" y="36118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Google My Business optimizado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386791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Citaciones locales (NAP)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412394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Reviews y valoraciones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4379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Mapa de ubicación en web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46360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•  Palabras clave + ciudad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Redes Sociales &amp; Objetivos SMART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Objetivos SMART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S: Llegar a 10.000 seguidores en Instagram y TikTok en 6 meses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581912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M: Generar 500 leads mensuales desde redes sociales al mes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74650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A: Publicar 5 contenidos semanales con equipo de 1 community manager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911096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R: Aumentar tráfico web orgánico en 40% mediante contenido en RRSS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0756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T: Alcanzar 200 inspecciones mensuales al cabo de 6 meses de lanzamiento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7432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Instagram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Fotos, Reels, Stories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Marcas, casos de éxito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01168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🎵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01168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TikTok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08483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Videos cortos virales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Consejos en 60 seg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4904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74904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📘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74904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Facebook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2219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Comunidad, ads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Grupos automotrices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8640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💼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48640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LinkedIn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5955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B2B, alianzas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Reputación corporativa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2514600"/>
            <a:ext cx="1600200" cy="2286000"/>
          </a:xfrm>
          <a:prstGeom prst="roundRect">
            <a:avLst>
              <a:gd name="adj" fmla="val 5714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223760" y="26060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▶️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223760" y="321868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7316"/>
                </a:solidFill>
              </a:rPr>
              <a:t>YouTube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96912" y="361188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Tutoriales largos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8D8F0"/>
                </a:solidFill>
              </a:rPr>
              <a:t>Webinars grabados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Marketing de Contenidos &amp; Storytelling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0" cy="3886200"/>
          </a:xfrm>
          <a:prstGeom prst="roundRect">
            <a:avLst>
              <a:gd name="adj" fmla="val 2353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51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</a:rPr>
              <a:t>📝  Tipos de Contenido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🎥  Videos educativos: '5 cosas que revisar antes de comprar un auto'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📊  Infografías: 'Los defectos más comunes en autos usados'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📖  Blog: 'Guía completa para comprar tu primer vehículo usado'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9260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💬  Testimonios de clientes satisfechos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🔴  Lives con mecánicos respondiendo preguntas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8404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📲  Stories interactivos con encuestas y Q&amp;A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429768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</a:rPr>
              <a:t>🎯  Casos de éxito: 'CheckAuto me salvó de una mala compra'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577840" y="960120"/>
            <a:ext cx="3291840" cy="3886200"/>
          </a:xfrm>
          <a:prstGeom prst="roundRect">
            <a:avLst>
              <a:gd name="adj" fmla="val 2778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760720" y="10515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</a:rPr>
              <a:t>💡  Storytelling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</a:rPr>
              <a:t>CheckAuto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852160" y="182880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5216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63640" y="1828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Protagonista: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El comprador nervioso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852160" y="237744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52160" y="2377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63640" y="2377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Problema: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Miedo a ser estafado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852160" y="292608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2926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63640" y="292608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Guía: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CheckAuto aparece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852160" y="347472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52160" y="3474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Plan: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Inspección certificada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852160" y="4023360"/>
            <a:ext cx="320040" cy="3200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0" y="4023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6364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Resolución: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8F0"/>
                </a:solidFill>
              </a:rPr>
              <a:t>Compra con confianza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Parrilla de Contenidos – Semana Tipo</a:t>
            </a:r>
            <a:endParaRPr lang="en-US" sz="2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1097280"/>
                <a:gridCol w="347472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Día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Red Social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Formato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Tema / Contenido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Objetivo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Lunes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Instagram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Carrusel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'5 señales de que un auto tiene problemas'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Educación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Martes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TikTok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Video 60s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Inspector revisando motor en tiempo real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Confianza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Miércoles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Facebook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Post + Link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Blog: Cómo verificar el historial de un auto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Tráfico web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Jueves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Instagram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Story encuesta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¿Revisarías tu auto antes de comprarlo?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Interacción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Viernes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YouTube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Video largo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Webinar: Todo sobre inspección vehicular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Autoridad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Sábado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TikTok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Video viral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Testimonio cliente: 'CheckAuto me salvó'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Social proof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Domingo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Instagram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Reel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Detrás de cámaras del taller CheckAuto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</a:rPr>
                        <a:t>Humanización</a:t>
                      </a:r>
                      <a:endParaRPr lang="en-US" sz="11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822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Aliados Estratégicos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789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🏪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Concesionarios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84048" y="19659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Alianzas con dealers de autos usados para ofrecer CheckAuto como valor agregado en cada venta.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0058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10789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🔧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246120" y="16002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Talleres Certificados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55848" y="19659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Red de mecánicos y talleres autorizados para realizar inspecciones bajo estándares CheckAuto.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0058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10789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217920" y="16002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Influencers Automotrices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27648" y="19659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Creadores de contenido con audiencias de 50K+ enfocados en autos, mecánica y lifestyle.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0632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4320" y="31363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🏛️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74320" y="36576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Entidades Financieras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4048" y="40233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Bancos y cooperativas que financian vehículos pueden requerir inspección CheckAuto.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0632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246120" y="31363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3246120" y="36576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Marketplaces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55848" y="40233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OLX, Patiotuerca, MercadoLibre: integración de sello CheckAuto Verificado en anuncios.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3063240"/>
            <a:ext cx="2788920" cy="1874520"/>
          </a:xfrm>
          <a:prstGeom prst="roundRect">
            <a:avLst>
              <a:gd name="adj" fmla="val 4878"/>
            </a:avLst>
          </a:prstGeom>
          <a:solidFill>
            <a:srgbClr val="F8FAFF"/>
          </a:solidFill>
          <a:ln w="12700">
            <a:solidFill>
              <a:srgbClr val="DCE8F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17920" y="3136392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🎓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217920" y="36576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A6B"/>
                </a:solidFill>
              </a:rPr>
              <a:t>Institutos Técnicos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27648" y="4023360"/>
            <a:ext cx="257860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Convenios con universidades y centros de formación para captación de inspectores certificados.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CheckAuto - Presentación de Marca</dc:title>
  <dc:subject>PptxGenJS Presentation</dc:subject>
  <dc:creator>PptxGenJS</dc:creator>
  <cp:lastModifiedBy>PptxGenJS</cp:lastModifiedBy>
  <cp:revision>1</cp:revision>
  <dcterms:created xsi:type="dcterms:W3CDTF">2026-07-02T22:30:59Z</dcterms:created>
  <dcterms:modified xsi:type="dcterms:W3CDTF">2026-07-02T22:30:59Z</dcterms:modified>
</cp:coreProperties>
</file>